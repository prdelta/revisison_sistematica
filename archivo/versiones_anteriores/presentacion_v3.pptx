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1cd6b149-cfcc-2fb7-7025-dccafb493feb}">
          <p14:sldIdLst>
            <p14:sldId id="256"/>
            <p14:sldId id="257"/>
            <p14:sldId id="258"/>
          </p14:sldIdLst>
        </p14:section>
        <p14:section name="Métodos" id="{415dfd6a-0fb2-e711-4bcd-6d9dc784511a}">
          <p14:sldIdLst>
            <p14:sldId id="259"/>
            <p14:sldId id="260"/>
            <p14:sldId id="261"/>
          </p14:sldIdLst>
        </p14:section>
        <p14:section name="Resultados" id="{4832a242-8966-eeca-7b89-33b32ff89e74}">
          <p14:sldIdLst>
            <p14:sldId id="262"/>
            <p14:sldId id="263"/>
            <p14:sldId id="264"/>
            <p14:sldId id="265"/>
            <p14:sldId id="266"/>
          </p14:sldIdLst>
        </p14:section>
        <p14:section name="Discusión" id="{18c0108e-bb97-bb38-9858-9b58e104f0e1}">
          <p14:sldIdLst>
            <p14:sldId id="267"/>
            <p14:sldId id="268"/>
          </p14:sldIdLst>
        </p14:section>
        <p14:section name="Conclusiones" id="{9c7e62c3-7918-86e2-7842-9d904bb1fa5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4D"/>
                </a:solidFill>
                <a:latin typeface="+mn-lt"/>
              </a:rPr>
              <a:t>Motivos de exclusión, búsqueda principal (177)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Excluidos</c:v>
                </c:pt>
              </c:strCache>
            </c:strRef>
          </c:tx>
          <c:spPr>
            <a:solidFill>
              <a:srgbClr val="8A9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Sin método espacial (CE2)</c:v>
                  </c:pt>
                  <c:pt idx="1">
                    <c:v>Área nacional/urbana/llana (CE6)</c:v>
                  </c:pt>
                  <c:pt idx="2">
                    <c:v>Sin brazo de AA (CE3)</c:v>
                  </c:pt>
                  <c:pt idx="3">
                    <c:v>Pronóstico o relleno (CE5)</c:v>
                  </c:pt>
                  <c:pt idx="4">
                    <c:v>Híbrido sin brazo propio (CE4)</c:v>
                  </c:pt>
                  <c:pt idx="5">
                    <c:v>Revisión o idioma (CE9)</c:v>
                  </c:pt>
                  <c:pt idx="6">
                    <c:v>Validación contra malla (CE7)</c:v>
                  </c:pt>
                  <c:pt idx="7">
                    <c:v>Otra variable (CE8)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</c:v>
                </c:pt>
                <c:pt idx="1">
                  <c:v>33</c:v>
                </c:pt>
                <c:pt idx="2">
                  <c:v>31</c:v>
                </c:pt>
                <c:pt idx="3">
                  <c:v>30</c:v>
                </c:pt>
                <c:pt idx="4">
                  <c:v>17</c:v>
                </c:pt>
                <c:pt idx="5">
                  <c:v>8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Estudios incluidos por país (n = 18)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Estudios</c:v>
                </c:pt>
              </c:strCache>
            </c:strRef>
          </c:tx>
          <c:spPr>
            <a:solidFill>
              <a:srgbClr val="2E7D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China</c:v>
                  </c:pt>
                  <c:pt idx="1">
                    <c:v>Irán</c:v>
                  </c:pt>
                  <c:pt idx="2">
                    <c:v>España</c:v>
                  </c:pt>
                  <c:pt idx="3">
                    <c:v>Ecuador</c:v>
                  </c:pt>
                  <c:pt idx="4">
                    <c:v>Argelia</c:v>
                  </c:pt>
                  <c:pt idx="5">
                    <c:v>Italia</c:v>
                  </c:pt>
                  <c:pt idx="6">
                    <c:v>Francia</c:v>
                  </c:pt>
                  <c:pt idx="7">
                    <c:v>Turquía</c:v>
                  </c:pt>
                  <c:pt idx="8">
                    <c:v>Irak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Efecto combinado por subgrupo (k entre paréntesis)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ln-razón</c:v>
                </c:pt>
              </c:strCache>
            </c:strRef>
          </c:tx>
          <c:spPr>
            <a:solidFill>
              <a:srgbClr val="5B8DB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Precipitación (13)</c:v>
                  </c:pt>
                  <c:pt idx="1">
                    <c:v>Temperatura (4)</c:v>
                  </c:pt>
                  <c:pt idx="2">
                    <c:v>Kriging (13)</c:v>
                  </c:pt>
                  <c:pt idx="3">
                    <c:v>GWR / MGWR (4)</c:v>
                  </c:pt>
                  <c:pt idx="4">
                    <c:v>Covariables iguales (11)</c:v>
                  </c:pt>
                  <c:pt idx="5">
                    <c:v>Covariables distintas (6)</c:v>
                  </c:pt>
                  <c:pt idx="6">
                    <c:v>Estaciones independientes (12)</c:v>
                  </c:pt>
                  <c:pt idx="7">
                    <c:v>Validación cruzada (5)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0.104</c:v>
                </c:pt>
                <c:pt idx="1">
                  <c:v>0.189</c:v>
                </c:pt>
                <c:pt idx="2">
                  <c:v>0.125</c:v>
                </c:pt>
                <c:pt idx="3">
                  <c:v>0.119</c:v>
                </c:pt>
                <c:pt idx="4">
                  <c:v>0.11</c:v>
                </c:pt>
                <c:pt idx="5">
                  <c:v>0.188</c:v>
                </c:pt>
                <c:pt idx="6">
                  <c:v>0.167</c:v>
                </c:pt>
                <c:pt idx="7">
                  <c:v>0.025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Riesgo de sesgo (17 comparaciones)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Riesgo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7A"/>
              </a:solidFill>
              <a:effectLst/>
            </c:spPr>
          </c:dPt>
          <c:dPt>
            <c:idx val="1"/>
            <c:bubble3D val="0"/>
            <c:spPr>
              <a:solidFill>
                <a:srgbClr val="8A9BA8"/>
              </a:solidFill>
              <a:effectLst/>
            </c:spPr>
          </c:dPt>
          <c:dPt>
            <c:idx val="2"/>
            <c:bubble3D val="0"/>
            <c:spPr>
              <a:solidFill>
                <a:srgbClr val="B5462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Bajo</c:v>
                </c:pt>
                <c:pt idx="1">
                  <c:v>Dudoso</c:v>
                </c:pt>
                <c:pt idx="2">
                  <c:v>Alto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</c:v>
                </c:pt>
                <c:pt idx="1">
                  <c:v>11</c:v>
                </c:pt>
                <c:pt idx="2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A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una revisión sistemática con metaanálisis que compara la geoestadística con el aprendizaje automático para estimar precipitación y temperatura en sitios sin estaciones en regiones montañosas.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estaciones están en los valles y la variabilidad está en las cumbres. Hay estudios que favorecen al kriging y otros al random forest, pero nadie lo había sintetizado de forma cuantitativa para zonas de montaña.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Periodo 2020 a 2026. La unidad de análisis es la comparación: un par método espacial y método de AA para una variable, un área y un esquema de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of Science no pudo consultarse por falta de acceso institucional. Cuando un valor solo aparecía en una figura lo leímos del panel y lo marcamos.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motivos más comunes fueron no tener un método espacial propio y trabajar en áreas nacionales, urbanas o llanas. La búsqueda complementaria del 15 de octubre (seis ecuaciones nuevas en OpenAlex y rastreo de citas) encontró 127 registros nuevos y añadió un estudio: Li et al. 2026. Un estudio no tenía texto completo y otro solo reportaba KGE, por eso el metaanálisis tiene 16 estudios.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Ningún estudio reportó la incertidumbre del RMSE, así que la aproximamos con el número de estaciones de validación. Por eso probamos varios valores de la correlación.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 9 y 3189 estaciones por estudio. Predominan las variantes de kriging como método espacial y random forest como mejor modelo de AA. Solo hay un estudio andino y ninguno del Altiplano.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el intervalo de predicción incluya el cero significa que en un estudio nuevo la geoestadística podría igualar o superar al AA. Es una ventaja promedio, no una superioridad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línea es una comparación con su intervalo de confianza; el tamaño del marcador es el peso. El rombo es el efecto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familia del método espacial y la variable no cambian el resultado. Lo que más se asocia a la ventaja del AA es que disponga de más covariables que el método espacial.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resultado es robusto a casi todo, salvo a la calidad del diseño: en las tres comparaciones de bajo riesgo (Sekulić y Argañaraz) no hay diferencia entre métodos. Los tres estudios de riesgo alto tienen fuga de información: Ghorbani (M5 evaluado con los datos de ajuste), Husrevoglu (modelos elegidos por el error de prueba) y Orellana-Samaniego (selección de variables con todos los datos del mes).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útil parece ser menos geoestadística o AA y más cómo combinar la dependencia espacial con relaciones no lineales.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sesgo del ganador es importante: si un estudio prueba seis modelos de AA y dos de kriging, el mejor de seis tiene más oportunidades de salir bien por 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prioridad más clara es hacer esta comparación en los Andes tropicales y el Altiplano, la región que motivó la revisión.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Geoestadística vs. AA en montaña · UNA Puno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E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Geoestadística frente a aprendizaje automático para predecir precipitación y temperatura en regiones montañosas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Revisión sistemática y metaanálisis (PRISMA 2020)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Kris Colquehuanca Zapana · Yeferson Laura Livise · Obed Leon Mamani · Kevin Portillo Machaca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Estadística Espacial · Docente: Fred Torres Cruz · Universidad Nacional del Altiplano, Puno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montaña faltan estaciones donde más se necesitan</a:t>
            </a:r>
            <a:endParaRPr lang="en-US" sz="3400" dirty="0"/>
          </a:p>
        </p:txBody>
      </p:sp>
      <p:sp>
        <p:nvSpPr>
          <p:cNvPr id="3" name="texto_1"/>
          <p:cNvSpPr txBox="1"/>
          <p:nvPr/>
        </p:nvSpPr>
        <p:spPr>
          <a:xfrm>
            <a:off x="548640" y="137160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Las redes de monitoreo son escasas y se concentran en los valles, mientras la lluvia y la temperatura cambian con la altitud.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Para mapear estas variables hay dos familias de métodos: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Geoestadística: kriging, cokriging, regresión-kriging, GWR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Aprendizaje automático (AA): random forest, boosting, SVM, redes neuronales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evidencia que las compara es contradictoria y está dispersa.</a:t>
            </a:r>
            <a:endParaRPr lang="en-US" sz="1800" dirty="0"/>
          </a:p>
        </p:txBody>
      </p:sp>
      <p:sp>
        <p:nvSpPr>
          <p:cNvPr id="4" name="tarjeta_2"/>
          <p:cNvSpPr/>
          <p:nvPr/>
        </p:nvSpPr>
        <p:spPr>
          <a:xfrm>
            <a:off x="7040880" y="1463040"/>
            <a:ext cx="457200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o_3"/>
          <p:cNvSpPr txBox="1"/>
          <p:nvPr/>
        </p:nvSpPr>
        <p:spPr>
          <a:xfrm>
            <a:off x="7315200" y="164592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Vacío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No hay una síntesis cuantitativa de cuál predice mejor en terreno montañoso.</a:t>
            </a:r>
            <a:endParaRPr lang="en-US" sz="1600" dirty="0"/>
          </a:p>
        </p:txBody>
      </p:sp>
      <p:sp>
        <p:nvSpPr>
          <p:cNvPr id="6" name="tarjeta_4"/>
          <p:cNvSpPr/>
          <p:nvPr/>
        </p:nvSpPr>
        <p:spPr>
          <a:xfrm>
            <a:off x="7040880" y="3840480"/>
            <a:ext cx="4572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_5"/>
          <p:cNvSpPr txBox="1"/>
          <p:nvPr/>
        </p:nvSpPr>
        <p:spPr>
          <a:xfrm>
            <a:off x="7315200" y="40233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Pregunta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¿Cómo se compara el error fuera de muestra de ambos enfoques y qué explica las diferencias?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estructurada con PICO</a:t>
            </a:r>
            <a:endParaRPr lang="en-US" sz="3400" dirty="0"/>
          </a:p>
        </p:txBody>
      </p:sp>
      <p:sp>
        <p:nvSpPr>
          <p:cNvPr id="3" name="tarjeta_6"/>
          <p:cNvSpPr/>
          <p:nvPr/>
        </p:nvSpPr>
        <p:spPr>
          <a:xfrm>
            <a:off x="548640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ico_7"/>
          <p:cNvSpPr/>
          <p:nvPr/>
        </p:nvSpPr>
        <p:spPr>
          <a:xfrm>
            <a:off x="777240" y="17830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o_8"/>
          <p:cNvSpPr txBox="1"/>
          <p:nvPr/>
        </p:nvSpPr>
        <p:spPr>
          <a:xfrm>
            <a:off x="7772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</a:t>
            </a:r>
            <a:endParaRPr lang="en-US" sz="3000" dirty="0"/>
          </a:p>
        </p:txBody>
      </p:sp>
      <p:sp>
        <p:nvSpPr>
          <p:cNvPr id="6" name="texto_9"/>
          <p:cNvSpPr txBox="1"/>
          <p:nvPr/>
        </p:nvSpPr>
        <p:spPr>
          <a:xfrm>
            <a:off x="77724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Población</a:t>
            </a:r>
            <a:endParaRPr lang="en-US" sz="2000" dirty="0"/>
          </a:p>
        </p:txBody>
      </p:sp>
      <p:sp>
        <p:nvSpPr>
          <p:cNvPr id="7" name="texto_10"/>
          <p:cNvSpPr txBox="1"/>
          <p:nvPr/>
        </p:nvSpPr>
        <p:spPr>
          <a:xfrm>
            <a:off x="777240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Estudios que estiman precipitación, temperatura, índices de sequía o PM2.5 en sitios sin medición en montaña</a:t>
            </a:r>
            <a:endParaRPr lang="en-US" sz="1600" dirty="0"/>
          </a:p>
        </p:txBody>
      </p:sp>
      <p:sp>
        <p:nvSpPr>
          <p:cNvPr id="8" name="tarjeta_11"/>
          <p:cNvSpPr/>
          <p:nvPr/>
        </p:nvSpPr>
        <p:spPr>
          <a:xfrm>
            <a:off x="3364992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ico_12"/>
          <p:cNvSpPr/>
          <p:nvPr/>
        </p:nvSpPr>
        <p:spPr>
          <a:xfrm>
            <a:off x="3593592" y="178308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_13"/>
          <p:cNvSpPr txBox="1"/>
          <p:nvPr/>
        </p:nvSpPr>
        <p:spPr>
          <a:xfrm>
            <a:off x="3593592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</a:t>
            </a:r>
            <a:endParaRPr lang="en-US" sz="3000" dirty="0"/>
          </a:p>
        </p:txBody>
      </p:sp>
      <p:sp>
        <p:nvSpPr>
          <p:cNvPr id="11" name="texto_14"/>
          <p:cNvSpPr txBox="1"/>
          <p:nvPr/>
        </p:nvSpPr>
        <p:spPr>
          <a:xfrm>
            <a:off x="3593592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Intervención</a:t>
            </a:r>
            <a:endParaRPr lang="en-US" sz="2000" dirty="0"/>
          </a:p>
        </p:txBody>
      </p:sp>
      <p:sp>
        <p:nvSpPr>
          <p:cNvPr id="12" name="texto_15"/>
          <p:cNvSpPr txBox="1"/>
          <p:nvPr/>
        </p:nvSpPr>
        <p:spPr>
          <a:xfrm>
            <a:off x="3593592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Métodos espaciales: KO, KU, KED, RK, CoK, EBK, GWR, MGWR</a:t>
            </a:r>
            <a:endParaRPr lang="en-US" sz="1600" dirty="0"/>
          </a:p>
        </p:txBody>
      </p:sp>
      <p:sp>
        <p:nvSpPr>
          <p:cNvPr id="13" name="tarjeta_16"/>
          <p:cNvSpPr/>
          <p:nvPr/>
        </p:nvSpPr>
        <p:spPr>
          <a:xfrm>
            <a:off x="6181344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ico_17"/>
          <p:cNvSpPr/>
          <p:nvPr/>
        </p:nvSpPr>
        <p:spPr>
          <a:xfrm>
            <a:off x="6409944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o_18"/>
          <p:cNvSpPr txBox="1"/>
          <p:nvPr/>
        </p:nvSpPr>
        <p:spPr>
          <a:xfrm>
            <a:off x="6409944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</a:t>
            </a:r>
            <a:endParaRPr lang="en-US" sz="3000" dirty="0"/>
          </a:p>
        </p:txBody>
      </p:sp>
      <p:sp>
        <p:nvSpPr>
          <p:cNvPr id="16" name="texto_19"/>
          <p:cNvSpPr txBox="1"/>
          <p:nvPr/>
        </p:nvSpPr>
        <p:spPr>
          <a:xfrm>
            <a:off x="6409944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Comparación</a:t>
            </a:r>
            <a:endParaRPr lang="en-US" sz="2000" dirty="0"/>
          </a:p>
        </p:txBody>
      </p:sp>
      <p:sp>
        <p:nvSpPr>
          <p:cNvPr id="17" name="texto_20"/>
          <p:cNvSpPr txBox="1"/>
          <p:nvPr/>
        </p:nvSpPr>
        <p:spPr>
          <a:xfrm>
            <a:off x="6409944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Aprendizaje automático: RF, boosting, SVM, redes neuronales, GPR, M5</a:t>
            </a:r>
            <a:endParaRPr lang="en-US" sz="1600" dirty="0"/>
          </a:p>
        </p:txBody>
      </p:sp>
      <p:sp>
        <p:nvSpPr>
          <p:cNvPr id="18" name="tarjeta_21"/>
          <p:cNvSpPr/>
          <p:nvPr/>
        </p:nvSpPr>
        <p:spPr>
          <a:xfrm>
            <a:off x="8997696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ico_22"/>
          <p:cNvSpPr/>
          <p:nvPr/>
        </p:nvSpPr>
        <p:spPr>
          <a:xfrm>
            <a:off x="9226296" y="178308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o_23"/>
          <p:cNvSpPr txBox="1"/>
          <p:nvPr/>
        </p:nvSpPr>
        <p:spPr>
          <a:xfrm>
            <a:off x="922629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</a:t>
            </a:r>
            <a:endParaRPr lang="en-US" sz="3000" dirty="0"/>
          </a:p>
        </p:txBody>
      </p:sp>
      <p:sp>
        <p:nvSpPr>
          <p:cNvPr id="21" name="texto_24"/>
          <p:cNvSpPr txBox="1"/>
          <p:nvPr/>
        </p:nvSpPr>
        <p:spPr>
          <a:xfrm>
            <a:off x="9226296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Resultado</a:t>
            </a:r>
            <a:endParaRPr lang="en-US" sz="2000" dirty="0"/>
          </a:p>
        </p:txBody>
      </p:sp>
      <p:sp>
        <p:nvSpPr>
          <p:cNvPr id="22" name="texto_25"/>
          <p:cNvSpPr txBox="1"/>
          <p:nvPr/>
        </p:nvSpPr>
        <p:spPr>
          <a:xfrm>
            <a:off x="9226296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Error fuera de muestra frente a estaciones: ln(RMSE espacial / RMSE AA)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hicimos la revisión</a:t>
            </a:r>
            <a:endParaRPr lang="en-US" sz="3400" dirty="0"/>
          </a:p>
        </p:txBody>
      </p:sp>
      <p:sp>
        <p:nvSpPr>
          <p:cNvPr id="3" name="circulo_26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_27"/>
          <p:cNvSpPr txBox="1"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o_28"/>
          <p:cNvSpPr txBox="1"/>
          <p:nvPr/>
        </p:nvSpPr>
        <p:spPr>
          <a:xfrm>
            <a:off x="150876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Búsqueda</a:t>
            </a:r>
            <a:endParaRPr lang="en-US" sz="2200" dirty="0"/>
          </a:p>
        </p:txBody>
      </p:sp>
      <p:sp>
        <p:nvSpPr>
          <p:cNvPr id="6" name="texto_29"/>
          <p:cNvSpPr txBox="1"/>
          <p:nvPr/>
        </p:nvSpPr>
        <p:spPr>
          <a:xfrm>
            <a:off x="393192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Scopus, OpenAlex, SciELO y Redalyc (12–13 oct 2026). Ecuación de 5 bloques: variable, montaña, geoestadística, AA y desempeño</a:t>
            </a:r>
            <a:endParaRPr lang="en-US" sz="1600" dirty="0"/>
          </a:p>
        </p:txBody>
      </p:sp>
      <p:sp>
        <p:nvSpPr>
          <p:cNvPr id="7" name="circulo_30"/>
          <p:cNvSpPr/>
          <p:nvPr/>
        </p:nvSpPr>
        <p:spPr>
          <a:xfrm>
            <a:off x="640080" y="271576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_31"/>
          <p:cNvSpPr txBox="1"/>
          <p:nvPr/>
        </p:nvSpPr>
        <p:spPr>
          <a:xfrm>
            <a:off x="640080" y="2715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o_32"/>
          <p:cNvSpPr txBox="1"/>
          <p:nvPr/>
        </p:nvSpPr>
        <p:spPr>
          <a:xfrm>
            <a:off x="1508760" y="26243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Selección</a:t>
            </a:r>
            <a:endParaRPr lang="en-US" sz="2200" dirty="0"/>
          </a:p>
        </p:txBody>
      </p:sp>
      <p:sp>
        <p:nvSpPr>
          <p:cNvPr id="10" name="texto_33"/>
          <p:cNvSpPr txBox="1"/>
          <p:nvPr/>
        </p:nvSpPr>
        <p:spPr>
          <a:xfrm>
            <a:off x="3931920" y="262432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 criterios de inclusión y 9 de exclusión. Exige ambos brazos, validación con estaciones y área montañosa subnacional</a:t>
            </a:r>
            <a:endParaRPr lang="en-US" sz="1600" dirty="0"/>
          </a:p>
        </p:txBody>
      </p:sp>
      <p:sp>
        <p:nvSpPr>
          <p:cNvPr id="11" name="circulo_34"/>
          <p:cNvSpPr/>
          <p:nvPr/>
        </p:nvSpPr>
        <p:spPr>
          <a:xfrm>
            <a:off x="640080" y="392277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_35"/>
          <p:cNvSpPr txBox="1"/>
          <p:nvPr/>
        </p:nvSpPr>
        <p:spPr>
          <a:xfrm>
            <a:off x="640080" y="3922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o_36"/>
          <p:cNvSpPr txBox="1"/>
          <p:nvPr/>
        </p:nvSpPr>
        <p:spPr>
          <a:xfrm>
            <a:off x="1508760" y="383133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Extracción</a:t>
            </a:r>
            <a:endParaRPr lang="en-US" sz="2200" dirty="0"/>
          </a:p>
        </p:txBody>
      </p:sp>
      <p:sp>
        <p:nvSpPr>
          <p:cNvPr id="14" name="texto_37"/>
          <p:cNvSpPr txBox="1"/>
          <p:nvPr/>
        </p:nvSpPr>
        <p:spPr>
          <a:xfrm>
            <a:off x="3931920" y="383133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Ficha estandarizada: estaciones, validación, covariables y RMSE de cada brazo, leído en tablas o figuras</a:t>
            </a:r>
            <a:endParaRPr lang="en-US" sz="1600" dirty="0"/>
          </a:p>
        </p:txBody>
      </p:sp>
      <p:sp>
        <p:nvSpPr>
          <p:cNvPr id="15" name="circulo_38"/>
          <p:cNvSpPr/>
          <p:nvPr/>
        </p:nvSpPr>
        <p:spPr>
          <a:xfrm>
            <a:off x="640080" y="512978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_39"/>
          <p:cNvSpPr txBox="1"/>
          <p:nvPr/>
        </p:nvSpPr>
        <p:spPr>
          <a:xfrm>
            <a:off x="640080" y="5129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o_40"/>
          <p:cNvSpPr txBox="1"/>
          <p:nvPr/>
        </p:nvSpPr>
        <p:spPr>
          <a:xfrm>
            <a:off x="1508760" y="503834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Síntesis</a:t>
            </a:r>
            <a:endParaRPr lang="en-US" sz="2200" dirty="0"/>
          </a:p>
        </p:txBody>
      </p:sp>
      <p:sp>
        <p:nvSpPr>
          <p:cNvPr id="18" name="texto_41"/>
          <p:cNvSpPr txBox="1"/>
          <p:nvPr/>
        </p:nvSpPr>
        <p:spPr>
          <a:xfrm>
            <a:off x="3931920" y="503834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Efectos aleatorios REML con ajuste de Hartung–Knapp, subgrupos, sensibilidad, Egger y riesgo de sesgo (PROBAST)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390 registros llegaron 18 estudios</a:t>
            </a:r>
            <a:endParaRPr lang="en-US" sz="3400" dirty="0"/>
          </a:p>
        </p:txBody>
      </p:sp>
      <p:sp>
        <p:nvSpPr>
          <p:cNvPr id="3" name="tarjeta_42"/>
          <p:cNvSpPr/>
          <p:nvPr/>
        </p:nvSpPr>
        <p:spPr>
          <a:xfrm>
            <a:off x="914400" y="137160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_43"/>
          <p:cNvSpPr txBox="1"/>
          <p:nvPr/>
        </p:nvSpPr>
        <p:spPr>
          <a:xfrm>
            <a:off x="914400" y="1371600"/>
            <a:ext cx="3840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Búsqueda principal: 263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bases: 254 · otras fuentes: 9</a:t>
            </a:r>
            <a:endParaRPr lang="en-US" sz="1600" dirty="0"/>
          </a:p>
        </p:txBody>
      </p:sp>
      <p:sp>
        <p:nvSpPr>
          <p:cNvPr id="5" name="tarjeta_44"/>
          <p:cNvSpPr/>
          <p:nvPr/>
        </p:nvSpPr>
        <p:spPr>
          <a:xfrm>
            <a:off x="914400" y="2743200"/>
            <a:ext cx="38404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_45"/>
          <p:cNvSpPr txBox="1"/>
          <p:nvPr/>
        </p:nvSpPr>
        <p:spPr>
          <a:xfrm>
            <a:off x="914400" y="2743200"/>
            <a:ext cx="3840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Evaluados: 194</a:t>
            </a:r>
            <a:endParaRPr lang="en-US" sz="1600" dirty="0"/>
          </a:p>
        </p:txBody>
      </p:sp>
      <p:sp>
        <p:nvSpPr>
          <p:cNvPr id="7" name="tarjeta_46"/>
          <p:cNvSpPr/>
          <p:nvPr/>
        </p:nvSpPr>
        <p:spPr>
          <a:xfrm>
            <a:off x="914400" y="393192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o_47"/>
          <p:cNvSpPr txBox="1"/>
          <p:nvPr/>
        </p:nvSpPr>
        <p:spPr>
          <a:xfrm>
            <a:off x="91440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Incluidos: 18 estudios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19 comparaciones</a:t>
            </a:r>
            <a:endParaRPr lang="en-US" sz="1600" dirty="0"/>
          </a:p>
        </p:txBody>
      </p:sp>
      <p:sp>
        <p:nvSpPr>
          <p:cNvPr id="9" name="tarjeta_48"/>
          <p:cNvSpPr/>
          <p:nvPr/>
        </p:nvSpPr>
        <p:spPr>
          <a:xfrm>
            <a:off x="914400" y="521208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o_49"/>
          <p:cNvSpPr txBox="1"/>
          <p:nvPr/>
        </p:nvSpPr>
        <p:spPr>
          <a:xfrm>
            <a:off x="914400" y="5212080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Metaanálisis: 16 estudios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17 comparaciones</a:t>
            </a:r>
            <a:endParaRPr lang="en-US" sz="1600" dirty="0"/>
          </a:p>
        </p:txBody>
      </p:sp>
      <p:sp>
        <p:nvSpPr>
          <p:cNvPr id="11" name="flecha_50"/>
          <p:cNvSpPr/>
          <p:nvPr/>
        </p:nvSpPr>
        <p:spPr>
          <a:xfrm>
            <a:off x="2834640" y="228600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2" name="flecha_51"/>
          <p:cNvSpPr/>
          <p:nvPr/>
        </p:nvSpPr>
        <p:spPr>
          <a:xfrm>
            <a:off x="2834640" y="347472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3" name="flecha_52"/>
          <p:cNvSpPr/>
          <p:nvPr/>
        </p:nvSpPr>
        <p:spPr>
          <a:xfrm>
            <a:off x="2834640" y="475488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4" name="tarjeta_53"/>
          <p:cNvSpPr/>
          <p:nvPr/>
        </p:nvSpPr>
        <p:spPr>
          <a:xfrm>
            <a:off x="5486400" y="1463040"/>
            <a:ext cx="2743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o_54"/>
          <p:cNvSpPr txBox="1"/>
          <p:nvPr/>
        </p:nvSpPr>
        <p:spPr>
          <a:xfrm>
            <a:off x="548640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año (CE1): 69</a:t>
            </a:r>
            <a:endParaRPr lang="en-US" sz="1600" dirty="0"/>
          </a:p>
        </p:txBody>
      </p:sp>
      <p:sp>
        <p:nvSpPr>
          <p:cNvPr id="16" name="flecha_55"/>
          <p:cNvSpPr/>
          <p:nvPr/>
        </p:nvSpPr>
        <p:spPr>
          <a:xfrm>
            <a:off x="4754880" y="1828800"/>
            <a:ext cx="731520" cy="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7" name="tarjeta_56"/>
          <p:cNvSpPr/>
          <p:nvPr/>
        </p:nvSpPr>
        <p:spPr>
          <a:xfrm>
            <a:off x="5486400" y="27432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o_57"/>
          <p:cNvSpPr txBox="1"/>
          <p:nvPr/>
        </p:nvSpPr>
        <p:spPr>
          <a:xfrm>
            <a:off x="5486400" y="2743200"/>
            <a:ext cx="2743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Búsqueda complementaria: 127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nuevas ecuaciones y citas · 1 incluido</a:t>
            </a:r>
            <a:endParaRPr lang="en-US" sz="1600" dirty="0"/>
          </a:p>
        </p:txBody>
      </p:sp>
      <p:sp>
        <p:nvSpPr>
          <p:cNvPr id="19" name="flecha_58"/>
          <p:cNvSpPr/>
          <p:nvPr/>
        </p:nvSpPr>
        <p:spPr>
          <a:xfrm>
            <a:off x="5486400" y="3749040"/>
            <a:ext cx="-73152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20" name="tarjeta_59"/>
          <p:cNvSpPr/>
          <p:nvPr/>
        </p:nvSpPr>
        <p:spPr>
          <a:xfrm>
            <a:off x="5486400" y="5257800"/>
            <a:ext cx="27432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o_60"/>
          <p:cNvSpPr txBox="1"/>
          <p:nvPr/>
        </p:nvSpPr>
        <p:spPr>
          <a:xfrm>
            <a:off x="5486400" y="5257800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 texto completo: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 RMSE (solo KGE): 1</a:t>
            </a:r>
            <a:endParaRPr lang="en-US" sz="1600" dirty="0"/>
          </a:p>
        </p:txBody>
      </p:sp>
      <p:sp>
        <p:nvSpPr>
          <p:cNvPr id="22" name="flecha_61"/>
          <p:cNvSpPr/>
          <p:nvPr/>
        </p:nvSpPr>
        <p:spPr>
          <a:xfrm>
            <a:off x="4754880" y="5623560"/>
            <a:ext cx="731520" cy="4572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graphicFrame>
        <p:nvGraphicFramePr>
          <p:cNvPr id="23" name="grafico_62" descr=""/>
          <p:cNvGraphicFramePr/>
          <p:nvPr/>
        </p:nvGraphicFramePr>
        <p:xfrm>
          <a:off x="8503920" y="1280160"/>
          <a:ext cx="33832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medida común: la razón logarítmica de RMSE</a:t>
            </a:r>
            <a:endParaRPr lang="en-US" sz="3400" dirty="0"/>
          </a:p>
        </p:txBody>
      </p:sp>
      <p:sp>
        <p:nvSpPr>
          <p:cNvPr id="3" name="tarjeta_63"/>
          <p:cNvSpPr/>
          <p:nvPr/>
        </p:nvSpPr>
        <p:spPr>
          <a:xfrm>
            <a:off x="548640" y="1463040"/>
            <a:ext cx="57607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64"/>
          <p:cNvSpPr txBox="1"/>
          <p:nvPr/>
        </p:nvSpPr>
        <p:spPr>
          <a:xfrm>
            <a:off x="731520" y="15544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ln( RMSE espacial / RMSE AA )</a:t>
            </a:r>
            <a:endParaRPr lang="en-US" sz="2500" dirty="0"/>
          </a:p>
        </p:txBody>
      </p:sp>
      <p:sp>
        <p:nvSpPr>
          <p:cNvPr id="5" name="texto_65"/>
          <p:cNvSpPr txBox="1"/>
          <p:nvPr/>
        </p:nvSpPr>
        <p:spPr>
          <a:xfrm>
            <a:off x="731520" y="24688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y &gt; 0: el AA tiene menor error · y &lt; 0: gana el método espacial</a:t>
            </a:r>
            <a:endParaRPr lang="en-US" sz="1500" dirty="0"/>
          </a:p>
        </p:txBody>
      </p:sp>
      <p:sp>
        <p:nvSpPr>
          <p:cNvPr id="6" name="texto_66"/>
          <p:cNvSpPr txBox="1"/>
          <p:nvPr/>
        </p:nvSpPr>
        <p:spPr>
          <a:xfrm>
            <a:off x="548640" y="3657600"/>
            <a:ext cx="5760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Permite combinar milímetros y grados porque es adimensional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 compara el mejor método espacial con el mejor AA no híbrido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 hay un RMSE por año, mes o evento, se promedia el efecto</a:t>
            </a:r>
            <a:endParaRPr lang="en-US" sz="1700" dirty="0"/>
          </a:p>
        </p:txBody>
      </p:sp>
      <p:sp>
        <p:nvSpPr>
          <p:cNvPr id="7" name="tarjeta_67"/>
          <p:cNvSpPr/>
          <p:nvPr/>
        </p:nvSpPr>
        <p:spPr>
          <a:xfrm>
            <a:off x="6766560" y="1463040"/>
            <a:ext cx="484632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68"/>
          <p:cNvSpPr txBox="1"/>
          <p:nvPr/>
        </p:nvSpPr>
        <p:spPr>
          <a:xfrm>
            <a:off x="7040880" y="1645920"/>
            <a:ext cx="4389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Varianza aproximada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(1 − ρ) / 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n: estaciones de validación. ρ: correlación entre los errores de ambos métodos, que se evalúan en las mismas estaciones.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Principal: ρ = 0,5. Sensibilidad: ρ = 0 y ρ = 0,8.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evidencia viene sobre todo de China e Irán</a:t>
            </a:r>
            <a:endParaRPr lang="en-US" sz="3400" dirty="0"/>
          </a:p>
        </p:txBody>
      </p:sp>
      <p:graphicFrame>
        <p:nvGraphicFramePr>
          <p:cNvPr id="3" name="grafico_69" descr=""/>
          <p:cNvGraphicFramePr/>
          <p:nvPr/>
        </p:nvGraphicFramePr>
        <p:xfrm>
          <a:off x="457200" y="128016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_70"/>
          <p:cNvSpPr/>
          <p:nvPr/>
        </p:nvSpPr>
        <p:spPr>
          <a:xfrm>
            <a:off x="6858000" y="1371600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_71"/>
          <p:cNvSpPr txBox="1"/>
          <p:nvPr/>
        </p:nvSpPr>
        <p:spPr>
          <a:xfrm>
            <a:off x="7040880" y="13716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6" name="texto_72"/>
          <p:cNvSpPr txBox="1"/>
          <p:nvPr/>
        </p:nvSpPr>
        <p:spPr>
          <a:xfrm>
            <a:off x="8229600" y="13716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solo precipitación</a:t>
            </a:r>
            <a:endParaRPr lang="en-US" sz="1700" dirty="0"/>
          </a:p>
        </p:txBody>
      </p:sp>
      <p:sp>
        <p:nvSpPr>
          <p:cNvPr id="7" name="tarjeta_73"/>
          <p:cNvSpPr/>
          <p:nvPr/>
        </p:nvSpPr>
        <p:spPr>
          <a:xfrm>
            <a:off x="6858000" y="2587752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74"/>
          <p:cNvSpPr txBox="1"/>
          <p:nvPr/>
        </p:nvSpPr>
        <p:spPr>
          <a:xfrm>
            <a:off x="7040880" y="2587752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o_75"/>
          <p:cNvSpPr txBox="1"/>
          <p:nvPr/>
        </p:nvSpPr>
        <p:spPr>
          <a:xfrm>
            <a:off x="8229600" y="258775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solo temperatura · 1 con ambas</a:t>
            </a:r>
            <a:endParaRPr lang="en-US" sz="1700" dirty="0"/>
          </a:p>
        </p:txBody>
      </p:sp>
      <p:sp>
        <p:nvSpPr>
          <p:cNvPr id="10" name="tarjeta_76"/>
          <p:cNvSpPr/>
          <p:nvPr/>
        </p:nvSpPr>
        <p:spPr>
          <a:xfrm>
            <a:off x="6858000" y="3803904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o_77"/>
          <p:cNvSpPr txBox="1"/>
          <p:nvPr/>
        </p:nvSpPr>
        <p:spPr>
          <a:xfrm>
            <a:off x="7040880" y="3803904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o_78"/>
          <p:cNvSpPr txBox="1"/>
          <p:nvPr/>
        </p:nvSpPr>
        <p:spPr>
          <a:xfrm>
            <a:off x="8229600" y="3803904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estudio andino (Ecuador)</a:t>
            </a:r>
            <a:endParaRPr lang="en-US" sz="1700" dirty="0"/>
          </a:p>
        </p:txBody>
      </p:sp>
      <p:sp>
        <p:nvSpPr>
          <p:cNvPr id="13" name="tarjeta_79"/>
          <p:cNvSpPr/>
          <p:nvPr/>
        </p:nvSpPr>
        <p:spPr>
          <a:xfrm>
            <a:off x="6858000" y="5020056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o_80"/>
          <p:cNvSpPr txBox="1"/>
          <p:nvPr/>
        </p:nvSpPr>
        <p:spPr>
          <a:xfrm>
            <a:off x="7040880" y="5020056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o_81"/>
          <p:cNvSpPr txBox="1"/>
          <p:nvPr/>
        </p:nvSpPr>
        <p:spPr>
          <a:xfrm>
            <a:off x="8229600" y="5020056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en el Altiplano, PM2.5 o sequía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AA tuvo en promedio un error 11,7 % menor</a:t>
            </a:r>
            <a:endParaRPr lang="en-US" sz="3400" dirty="0"/>
          </a:p>
        </p:txBody>
      </p:sp>
      <p:sp>
        <p:nvSpPr>
          <p:cNvPr id="3" name="tarjeta_82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83"/>
          <p:cNvSpPr txBox="1"/>
          <p:nvPr/>
        </p:nvSpPr>
        <p:spPr>
          <a:xfrm>
            <a:off x="731520" y="17373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11,7 %</a:t>
            </a:r>
            <a:endParaRPr lang="en-US" sz="7200" dirty="0"/>
          </a:p>
        </p:txBody>
      </p:sp>
      <p:sp>
        <p:nvSpPr>
          <p:cNvPr id="5" name="texto_84"/>
          <p:cNvSpPr txBox="1"/>
          <p:nvPr/>
        </p:nvSpPr>
        <p:spPr>
          <a:xfrm>
            <a:off x="822960" y="3200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menos RMSE con AA que con el mejor método espacial</a:t>
            </a:r>
            <a:endParaRPr lang="en-US" sz="1800" dirty="0"/>
          </a:p>
        </p:txBody>
      </p:sp>
      <p:sp>
        <p:nvSpPr>
          <p:cNvPr id="6" name="texto_85"/>
          <p:cNvSpPr txBox="1"/>
          <p:nvPr/>
        </p:nvSpPr>
        <p:spPr>
          <a:xfrm>
            <a:off x="822960" y="4206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IC 95 %: 3,3 – 19,4 % · ln-razón 0,125 · p = 0,010 · k = 17</a:t>
            </a:r>
            <a:endParaRPr lang="en-US" sz="1500" dirty="0"/>
          </a:p>
        </p:txBody>
      </p:sp>
      <p:sp>
        <p:nvSpPr>
          <p:cNvPr id="7" name="tarjeta_86"/>
          <p:cNvSpPr/>
          <p:nvPr/>
        </p:nvSpPr>
        <p:spPr>
          <a:xfrm>
            <a:off x="6126480" y="146304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87"/>
          <p:cNvSpPr txBox="1"/>
          <p:nvPr/>
        </p:nvSpPr>
        <p:spPr>
          <a:xfrm>
            <a:off x="6355080" y="1463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de 17</a:t>
            </a:r>
            <a:endParaRPr lang="en-US" sz="2600" dirty="0"/>
          </a:p>
        </p:txBody>
      </p:sp>
      <p:sp>
        <p:nvSpPr>
          <p:cNvPr id="9" name="texto_88"/>
          <p:cNvSpPr txBox="1"/>
          <p:nvPr/>
        </p:nvSpPr>
        <p:spPr>
          <a:xfrm>
            <a:off x="8778240" y="1463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comparaciones favorecen al AA; solo 6 con IC que excluye el cero</a:t>
            </a:r>
            <a:endParaRPr lang="en-US" sz="1500" dirty="0"/>
          </a:p>
        </p:txBody>
      </p:sp>
      <p:sp>
        <p:nvSpPr>
          <p:cNvPr id="10" name="tarjeta_89"/>
          <p:cNvSpPr/>
          <p:nvPr/>
        </p:nvSpPr>
        <p:spPr>
          <a:xfrm>
            <a:off x="6126480" y="301752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o_90"/>
          <p:cNvSpPr txBox="1"/>
          <p:nvPr/>
        </p:nvSpPr>
        <p:spPr>
          <a:xfrm>
            <a:off x="6355080" y="30175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I² = 61 %</a:t>
            </a:r>
            <a:endParaRPr lang="en-US" sz="2600" dirty="0"/>
          </a:p>
        </p:txBody>
      </p:sp>
      <p:sp>
        <p:nvSpPr>
          <p:cNvPr id="12" name="texto_91"/>
          <p:cNvSpPr txBox="1"/>
          <p:nvPr/>
        </p:nvSpPr>
        <p:spPr>
          <a:xfrm>
            <a:off x="8778240" y="30175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heterogeneidad moderada (Q = 40,7; p &lt; 0,001)</a:t>
            </a:r>
            <a:endParaRPr lang="en-US" sz="1500" dirty="0"/>
          </a:p>
        </p:txBody>
      </p:sp>
      <p:sp>
        <p:nvSpPr>
          <p:cNvPr id="13" name="tarjeta_92"/>
          <p:cNvSpPr/>
          <p:nvPr/>
        </p:nvSpPr>
        <p:spPr>
          <a:xfrm>
            <a:off x="6126480" y="457200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o_93"/>
          <p:cNvSpPr txBox="1"/>
          <p:nvPr/>
        </p:nvSpPr>
        <p:spPr>
          <a:xfrm>
            <a:off x="6355080" y="4572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−0,16 a 0,41</a:t>
            </a:r>
            <a:endParaRPr lang="en-US" sz="2600" dirty="0"/>
          </a:p>
        </p:txBody>
      </p:sp>
      <p:sp>
        <p:nvSpPr>
          <p:cNvPr id="15" name="texto_94"/>
          <p:cNvSpPr txBox="1"/>
          <p:nvPr/>
        </p:nvSpPr>
        <p:spPr>
          <a:xfrm>
            <a:off x="8778240" y="45720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intervalo de predicción: incluye el cero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 todas las comparaciones se inclinan hacia el AA</a:t>
            </a:r>
            <a:endParaRPr lang="en-US" sz="3400" dirty="0"/>
          </a:p>
        </p:txBody>
      </p:sp>
      <p:pic>
        <p:nvPicPr>
          <p:cNvPr id="3" name="bosque_95" descr="Gráfico de bosque del efecto por compar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968496" cy="5029200"/>
          </a:xfrm>
          <a:prstGeom prst="rect">
            <a:avLst/>
          </a:prstGeom>
        </p:spPr>
      </p:pic>
      <p:sp>
        <p:nvSpPr>
          <p:cNvPr id="4" name="texto_96"/>
          <p:cNvSpPr txBox="1"/>
          <p:nvPr/>
        </p:nvSpPr>
        <p:spPr>
          <a:xfrm>
            <a:off x="5120640" y="1463040"/>
            <a:ext cx="6492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Favorecieron al método espacial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Cokriging en lluvias intensas de Guangdong (frente a AA con kriging de residuos)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Kriging universal en Abruzzo, en precipitación y temperatura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Mayores ventajas del AA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Anatolia Central: RNA 9,6 mm frente a cokriging 15,6 mm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Fujian: CatBoost 1,21 °C frente a kriging 1,79 °C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Presa Xiluodu: XGB-C 1,17 °C frente a kriging 1,92 °C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En los tres casos el AA tenía covariables que el kriging no usaba.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ventaja crece cuando el AA tiene más covariables</a:t>
            </a:r>
            <a:endParaRPr lang="en-US" sz="3400" dirty="0"/>
          </a:p>
        </p:txBody>
      </p:sp>
      <p:graphicFrame>
        <p:nvGraphicFramePr>
          <p:cNvPr id="3" name="grafico_97" descr=""/>
          <p:cNvGraphicFramePr/>
          <p:nvPr/>
        </p:nvGraphicFramePr>
        <p:xfrm>
          <a:off x="45720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_98"/>
          <p:cNvSpPr/>
          <p:nvPr/>
        </p:nvSpPr>
        <p:spPr>
          <a:xfrm>
            <a:off x="7772400" y="1463040"/>
            <a:ext cx="384048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o_99"/>
          <p:cNvSpPr txBox="1"/>
          <p:nvPr/>
        </p:nvSpPr>
        <p:spPr>
          <a:xfrm>
            <a:off x="800100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Covariables iguales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Efecto menor (0,110) y casi homogéneo (I² = 11 %)</a:t>
            </a:r>
            <a:endParaRPr lang="en-US" sz="1700" dirty="0"/>
          </a:p>
        </p:txBody>
      </p:sp>
      <p:sp>
        <p:nvSpPr>
          <p:cNvPr id="6" name="tarjeta_100"/>
          <p:cNvSpPr/>
          <p:nvPr/>
        </p:nvSpPr>
        <p:spPr>
          <a:xfrm>
            <a:off x="7772400" y="3931920"/>
            <a:ext cx="38404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_101"/>
          <p:cNvSpPr txBox="1"/>
          <p:nvPr/>
        </p:nvSpPr>
        <p:spPr>
          <a:xfrm>
            <a:off x="8001000" y="4114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Solo la validación marca diferencia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Estaciones independientes 0,167 frente a validación cruzada 0,025 (p = 0,02).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los estudios de bajo riesgo la ventaja desaparece</a:t>
            </a:r>
            <a:endParaRPr lang="en-US" sz="3400" dirty="0"/>
          </a:p>
        </p:txBody>
      </p:sp>
      <p:graphicFrame>
        <p:nvGraphicFramePr>
          <p:cNvPr id="3" name="grafico_102" descr=""/>
          <p:cNvGraphicFramePr/>
          <p:nvPr/>
        </p:nvGraphicFramePr>
        <p:xfrm>
          <a:off x="457200" y="1371600"/>
          <a:ext cx="42062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a_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463040"/>
          <a:ext cx="6492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31520"/>
                <a:gridCol w="3108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Análisis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ln-razón (IC 95 %)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Global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0,125 (0,034; 0,216)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 riesgo alto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0,112 (0,016; 0,208)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 brazo híbrido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0,138 (0,046; 0,231)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ρ = 0 / ρ = 0,8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0,110 / 0,134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Omitir uno a la vez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0,102 a 0,138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Solo riesgo bajo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−0,022 (−0,279; 0,236)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_104"/>
          <p:cNvSpPr txBox="1"/>
          <p:nvPr/>
        </p:nvSpPr>
        <p:spPr>
          <a:xfrm>
            <a:off x="5120640" y="502920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Egger: intercepto 1,22; p = 0,23. Sin asimetría evidente en el embudo.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lecturas de los resultados</a:t>
            </a:r>
            <a:endParaRPr lang="en-US" sz="3400" dirty="0"/>
          </a:p>
        </p:txBody>
      </p:sp>
      <p:sp>
        <p:nvSpPr>
          <p:cNvPr id="3" name="tarjeta_105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_106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um_107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o_108"/>
          <p:cNvSpPr txBox="1"/>
          <p:nvPr/>
        </p:nvSpPr>
        <p:spPr>
          <a:xfrm>
            <a:off x="173736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Importan más las covariables que el algoritmo</a:t>
            </a:r>
            <a:endParaRPr lang="en-US" sz="2000" dirty="0"/>
          </a:p>
        </p:txBody>
      </p:sp>
      <p:sp>
        <p:nvSpPr>
          <p:cNvPr id="7" name="texto_109"/>
          <p:cNvSpPr txBox="1"/>
          <p:nvPr/>
        </p:nvSpPr>
        <p:spPr>
          <a:xfrm>
            <a:off x="1737360" y="20116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Cuando el kriging solo usa las estaciones y el AA usa satélite o reanálisis, la diferencia se agranda. Con las mismas covariables, la ventaja se reduce.</a:t>
            </a:r>
            <a:endParaRPr lang="en-US" sz="1600" dirty="0"/>
          </a:p>
        </p:txBody>
      </p:sp>
      <p:sp>
        <p:nvSpPr>
          <p:cNvPr id="8" name="tarjeta_110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ulo_111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num_112"/>
          <p:cNvSpPr txBox="1"/>
          <p:nvPr/>
        </p:nvSpPr>
        <p:spPr>
          <a:xfrm>
            <a:off x="8229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o_113"/>
          <p:cNvSpPr txBox="1"/>
          <p:nvPr/>
        </p:nvSpPr>
        <p:spPr>
          <a:xfrm>
            <a:off x="173736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 frontera entre familias se borra</a:t>
            </a:r>
            <a:endParaRPr lang="en-US" sz="2000" dirty="0"/>
          </a:p>
        </p:txBody>
      </p:sp>
      <p:sp>
        <p:nvSpPr>
          <p:cNvPr id="12" name="texto_114"/>
          <p:cNvSpPr txBox="1"/>
          <p:nvPr/>
        </p:nvSpPr>
        <p:spPr>
          <a:xfrm>
            <a:off x="1737360" y="36118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Cataluña el RF estándar perdió con la regresión-kriging y solo el RFSI la igualó. En Sichuan, sin el SRF híbrido, kriging y RF empataron (35,98 frente a 35,93 mm).</a:t>
            </a:r>
            <a:endParaRPr lang="en-US" sz="1600" dirty="0"/>
          </a:p>
        </p:txBody>
      </p:sp>
      <p:sp>
        <p:nvSpPr>
          <p:cNvPr id="13" name="tarjeta_115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ulo_116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um_117"/>
          <p:cNvSpPr txBox="1"/>
          <p:nvPr/>
        </p:nvSpPr>
        <p:spPr>
          <a:xfrm>
            <a:off x="82296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o_118"/>
          <p:cNvSpPr txBox="1"/>
          <p:nvPr/>
        </p:nvSpPr>
        <p:spPr>
          <a:xfrm>
            <a:off x="173736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 ventaja depende de la calidad del diseño</a:t>
            </a:r>
            <a:endParaRPr lang="en-US" sz="2000" dirty="0"/>
          </a:p>
        </p:txBody>
      </p:sp>
      <p:sp>
        <p:nvSpPr>
          <p:cNvPr id="17" name="texto_119"/>
          <p:cNvSpPr txBox="1"/>
          <p:nvPr/>
        </p:nvSpPr>
        <p:spPr>
          <a:xfrm>
            <a:off x="1737360" y="52120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los 3 estudios de bajo riesgo la diferencia desaparece (−0,022); la ventaja solo es significativa con estaciones independientes.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Vacíos de evidencia y limitaciones</a:t>
            </a:r>
            <a:endParaRPr lang="en-US" sz="3400" dirty="0"/>
          </a:p>
        </p:txBody>
      </p:sp>
      <p:sp>
        <p:nvSpPr>
          <p:cNvPr id="3" name="tarjeta_120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121"/>
          <p:cNvSpPr txBox="1"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Vacíos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Un solo estudio andino y ninguno del Altiplano, incluso tras la búsqueda complementaria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Ningún estudio elegible de sequía ni PM2.5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Temperatura: solo 4 comparaciones y resultados inconsistentes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Casi toda la evidencia es de China e Irán</a:t>
            </a:r>
            <a:endParaRPr lang="en-US" sz="1700" dirty="0"/>
          </a:p>
        </p:txBody>
      </p:sp>
      <p:sp>
        <p:nvSpPr>
          <p:cNvPr id="5" name="tarjeta_122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_123"/>
          <p:cNvSpPr txBox="1"/>
          <p:nvPr/>
        </p:nvSpPr>
        <p:spPr>
          <a:xfrm>
            <a:off x="649224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5"/>
                </a:solidFill>
              </a:rPr>
              <a:t>Limitaciones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Varianza aproximada: ningún estudio reportó la incertidumbre del RMSE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Comparar al mejor de cada familia favorece al AA, que suele probar más modelos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Algunos valores leídos de figuras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Sin Web of Science, sin protocolo registrado y un texto completo sin recuperar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3" name="texto_124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AA predice con un error moderadamente menor, pero la ventaja es heterogénea, depende de las covariables y no se sostiene en los estudios de bajo riesgo.</a:t>
            </a:r>
            <a:endParaRPr lang="en-US" sz="2200" dirty="0"/>
          </a:p>
        </p:txBody>
      </p:sp>
      <p:sp>
        <p:nvSpPr>
          <p:cNvPr id="4" name="tarjeta_125"/>
          <p:cNvSpPr/>
          <p:nvPr/>
        </p:nvSpPr>
        <p:spPr>
          <a:xfrm>
            <a:off x="548640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5" name="circulo_126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_127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o_128"/>
          <p:cNvSpPr txBox="1"/>
          <p:nvPr/>
        </p:nvSpPr>
        <p:spPr>
          <a:xfrm>
            <a:off x="77724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Mismas covariables</a:t>
            </a:r>
            <a:endParaRPr lang="en-US" sz="1800" dirty="0"/>
          </a:p>
        </p:txBody>
      </p:sp>
      <p:sp>
        <p:nvSpPr>
          <p:cNvPr id="8" name="texto_129"/>
          <p:cNvSpPr txBox="1"/>
          <p:nvPr/>
        </p:nvSpPr>
        <p:spPr>
          <a:xfrm>
            <a:off x="777240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 ambos brazos</a:t>
            </a:r>
            <a:endParaRPr lang="en-US" sz="1500" dirty="0"/>
          </a:p>
        </p:txBody>
      </p:sp>
      <p:sp>
        <p:nvSpPr>
          <p:cNvPr id="9" name="tarjeta_130"/>
          <p:cNvSpPr/>
          <p:nvPr/>
        </p:nvSpPr>
        <p:spPr>
          <a:xfrm>
            <a:off x="3364992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10" name="circulo_131"/>
          <p:cNvSpPr/>
          <p:nvPr/>
        </p:nvSpPr>
        <p:spPr>
          <a:xfrm>
            <a:off x="3593592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_132"/>
          <p:cNvSpPr txBox="1"/>
          <p:nvPr/>
        </p:nvSpPr>
        <p:spPr>
          <a:xfrm>
            <a:off x="3593592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o_133"/>
          <p:cNvSpPr txBox="1"/>
          <p:nvPr/>
        </p:nvSpPr>
        <p:spPr>
          <a:xfrm>
            <a:off x="3593592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Validar con estaciones</a:t>
            </a:r>
            <a:endParaRPr lang="en-US" sz="1800" dirty="0"/>
          </a:p>
        </p:txBody>
      </p:sp>
      <p:sp>
        <p:nvSpPr>
          <p:cNvPr id="13" name="texto_134"/>
          <p:cNvSpPr txBox="1"/>
          <p:nvPr/>
        </p:nvSpPr>
        <p:spPr>
          <a:xfrm>
            <a:off x="3593592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independientes o bloques espaciales</a:t>
            </a:r>
            <a:endParaRPr lang="en-US" sz="1500" dirty="0"/>
          </a:p>
        </p:txBody>
      </p:sp>
      <p:sp>
        <p:nvSpPr>
          <p:cNvPr id="14" name="tarjeta_135"/>
          <p:cNvSpPr/>
          <p:nvPr/>
        </p:nvSpPr>
        <p:spPr>
          <a:xfrm>
            <a:off x="6181344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15" name="circulo_136"/>
          <p:cNvSpPr/>
          <p:nvPr/>
        </p:nvSpPr>
        <p:spPr>
          <a:xfrm>
            <a:off x="6409944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_137"/>
          <p:cNvSpPr txBox="1"/>
          <p:nvPr/>
        </p:nvSpPr>
        <p:spPr>
          <a:xfrm>
            <a:off x="6409944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o_138"/>
          <p:cNvSpPr txBox="1"/>
          <p:nvPr/>
        </p:nvSpPr>
        <p:spPr>
          <a:xfrm>
            <a:off x="6409944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Reportar RMSE</a:t>
            </a:r>
            <a:endParaRPr lang="en-US" sz="1800" dirty="0"/>
          </a:p>
        </p:txBody>
      </p:sp>
      <p:sp>
        <p:nvSpPr>
          <p:cNvPr id="18" name="texto_139"/>
          <p:cNvSpPr txBox="1"/>
          <p:nvPr/>
        </p:nvSpPr>
        <p:spPr>
          <a:xfrm>
            <a:off x="6409944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con n y su incertidumbre</a:t>
            </a:r>
            <a:endParaRPr lang="en-US" sz="1500" dirty="0"/>
          </a:p>
        </p:txBody>
      </p:sp>
      <p:sp>
        <p:nvSpPr>
          <p:cNvPr id="19" name="tarjeta_140"/>
          <p:cNvSpPr/>
          <p:nvPr/>
        </p:nvSpPr>
        <p:spPr>
          <a:xfrm>
            <a:off x="8997696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20" name="circulo_141"/>
          <p:cNvSpPr/>
          <p:nvPr/>
        </p:nvSpPr>
        <p:spPr>
          <a:xfrm>
            <a:off x="9226296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_142"/>
          <p:cNvSpPr txBox="1"/>
          <p:nvPr/>
        </p:nvSpPr>
        <p:spPr>
          <a:xfrm>
            <a:off x="9226296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o_143"/>
          <p:cNvSpPr txBox="1"/>
          <p:nvPr/>
        </p:nvSpPr>
        <p:spPr>
          <a:xfrm>
            <a:off x="9226296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Generar evidencia</a:t>
            </a:r>
            <a:endParaRPr lang="en-US" sz="1800" dirty="0"/>
          </a:p>
        </p:txBody>
      </p:sp>
      <p:sp>
        <p:nvSpPr>
          <p:cNvPr id="23" name="texto_144"/>
          <p:cNvSpPr txBox="1"/>
          <p:nvPr/>
        </p:nvSpPr>
        <p:spPr>
          <a:xfrm>
            <a:off x="9226296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 los Andes y el Altiplano</a:t>
            </a:r>
            <a:endParaRPr lang="en-US" sz="1500" dirty="0"/>
          </a:p>
        </p:txBody>
      </p:sp>
      <p:sp>
        <p:nvSpPr>
          <p:cNvPr id="24" name="texto_145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Gracias · ¿Preguntas?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E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tana">
  <a:themeElements>
    <a:clrScheme name="Montana">
      <a:dk1>
        <a:srgbClr val="1B2A35"/>
      </a:dk1>
      <a:lt1>
        <a:srgbClr val="FFFFFF"/>
      </a:lt1>
      <a:dk2>
        <a:srgbClr val="1F3A4D"/>
      </a:dk2>
      <a:lt2>
        <a:srgbClr val="E6EEF2"/>
      </a:lt2>
      <a:accent1>
        <a:srgbClr val="D9822B"/>
      </a:accent1>
      <a:accent2>
        <a:srgbClr val="2E7D7A"/>
      </a:accent2>
      <a:accent3>
        <a:srgbClr val="5B8DB8"/>
      </a:accent3>
      <a:accent4>
        <a:srgbClr val="8A9BA8"/>
      </a:accent4>
      <a:accent5>
        <a:srgbClr val="B5462F"/>
      </a:accent5>
      <a:accent6>
        <a:srgbClr val="7A9A4A"/>
      </a:accent6>
      <a:hlink>
        <a:srgbClr val="2E7D7A"/>
      </a:hlink>
      <a:folHlink>
        <a:srgbClr val="5B8DB8"/>
      </a:folHlink>
    </a:clrScheme>
    <a:fontScheme name="Monta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Geoestadística frente a aprendizaje automático en regiones montañosas</dc:title>
  <dc:subject>PptxGenJS Presentation</dc:subject>
  <dc:creator>Colquehuanca, Laura, Leon, Portillo</dc:creator>
  <cp:lastModifiedBy>Colquehuanca, Laura, Leon, Portillo</cp:lastModifiedBy>
  <cp:revision>1</cp:revision>
  <dcterms:created xsi:type="dcterms:W3CDTF">2026-10-16T03:00:06Z</dcterms:created>
  <dcterms:modified xsi:type="dcterms:W3CDTF">2026-10-16T03:00:06Z</dcterms:modified>
</cp:coreProperties>
</file>