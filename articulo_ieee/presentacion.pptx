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3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4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ción" id="{7f6a327e-c2ce-6cfc-b204-38861f137a27}">
          <p14:sldIdLst>
            <p14:sldId id="256"/>
            <p14:sldId id="257"/>
            <p14:sldId id="258"/>
          </p14:sldIdLst>
        </p14:section>
        <p14:section name="Métodos" id="{33675c48-33bc-8884-26fc-b7ea8d7bd8d3}">
          <p14:sldIdLst>
            <p14:sldId id="259"/>
            <p14:sldId id="260"/>
            <p14:sldId id="261"/>
          </p14:sldIdLst>
        </p14:section>
        <p14:section name="Resultados" id="{2c5121e0-24f7-979a-682d-4dcb77d80cab}">
          <p14:sldIdLst>
            <p14:sldId id="262"/>
            <p14:sldId id="263"/>
            <p14:sldId id="264"/>
            <p14:sldId id="265"/>
            <p14:sldId id="266"/>
          </p14:sldIdLst>
        </p14:section>
        <p14:section name="Discusión" id="{7d003f84-2e3f-37ed-d6b5-a71ad8087590}">
          <p14:sldIdLst>
            <p14:sldId id="267"/>
            <p14:sldId id="268"/>
          </p14:sldIdLst>
        </p14:section>
        <p14:section name="Conclusiones" id="{a4fd9636-5040-6631-6c31-6a97cf6add20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3A4D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F3A4D"/>
                </a:solidFill>
                <a:latin typeface="+mn-lt"/>
              </a:rPr>
              <a:t>Motivos de exclusión, búsqueda principal (177)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Excluidos</c:v>
                </c:pt>
              </c:strCache>
            </c:strRef>
          </c:tx>
          <c:spPr>
            <a:solidFill>
              <a:srgbClr val="8A9B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A3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Sin método espacial (CE2)</c:v>
                  </c:pt>
                  <c:pt idx="1">
                    <c:v>Área nacional/urbana/llana (CE6)</c:v>
                  </c:pt>
                  <c:pt idx="2">
                    <c:v>Sin brazo de AA (CE3)</c:v>
                  </c:pt>
                  <c:pt idx="3">
                    <c:v>Pronóstico o relleno (CE5)</c:v>
                  </c:pt>
                  <c:pt idx="4">
                    <c:v>Híbrido sin brazo propio (CE4)</c:v>
                  </c:pt>
                  <c:pt idx="5">
                    <c:v>Revisión o idioma (CE9)</c:v>
                  </c:pt>
                  <c:pt idx="6">
                    <c:v>Validación contra malla (CE7)</c:v>
                  </c:pt>
                  <c:pt idx="7">
                    <c:v>Otra variable (CE8)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53</c:v>
                </c:pt>
                <c:pt idx="1">
                  <c:v>33</c:v>
                </c:pt>
                <c:pt idx="2">
                  <c:v>31</c:v>
                </c:pt>
                <c:pt idx="3">
                  <c:v>30</c:v>
                </c:pt>
                <c:pt idx="4">
                  <c:v>17</c:v>
                </c:pt>
                <c:pt idx="5">
                  <c:v>8</c:v>
                </c:pt>
                <c:pt idx="6">
                  <c:v>4</c:v>
                </c:pt>
                <c:pt idx="7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B2A3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2A3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3A4D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F3A4D"/>
                </a:solidFill>
                <a:latin typeface="+mn-lt"/>
              </a:rPr>
              <a:t>Estudios incluidos por país (n = 18)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Estudios</c:v>
                </c:pt>
              </c:strCache>
            </c:strRef>
          </c:tx>
          <c:spPr>
            <a:solidFill>
              <a:srgbClr val="2E7D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A3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China</c:v>
                  </c:pt>
                  <c:pt idx="1">
                    <c:v>Irán</c:v>
                  </c:pt>
                  <c:pt idx="2">
                    <c:v>España</c:v>
                  </c:pt>
                  <c:pt idx="3">
                    <c:v>Ecuador</c:v>
                  </c:pt>
                  <c:pt idx="4">
                    <c:v>Argelia</c:v>
                  </c:pt>
                  <c:pt idx="5">
                    <c:v>Italia</c:v>
                  </c:pt>
                  <c:pt idx="6">
                    <c:v>Francia</c:v>
                  </c:pt>
                  <c:pt idx="7">
                    <c:v>Turquía</c:v>
                  </c:pt>
                  <c:pt idx="8">
                    <c:v>Irak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</c:v>
                </c:pt>
                <c:pt idx="1">
                  <c:v>2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  <c:pt idx="5">
                  <c:v>1</c:v>
                </c:pt>
                <c:pt idx="6">
                  <c:v>1</c:v>
                </c:pt>
                <c:pt idx="7">
                  <c:v>1</c:v>
                </c:pt>
                <c:pt idx="8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B2A3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2A3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3A4D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F3A4D"/>
                </a:solidFill>
                <a:latin typeface="+mn-lt"/>
              </a:rPr>
              <a:t>Efecto combinado por subgrupo (k entre paréntesis)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ln-razón</c:v>
                </c:pt>
              </c:strCache>
            </c:strRef>
          </c:tx>
          <c:spPr>
            <a:solidFill>
              <a:srgbClr val="5B8DB8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A3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Precipitación (12)</c:v>
                  </c:pt>
                  <c:pt idx="1">
                    <c:v>Temperatura (4)</c:v>
                  </c:pt>
                  <c:pt idx="2">
                    <c:v>Kriging (12)</c:v>
                  </c:pt>
                  <c:pt idx="3">
                    <c:v>GWR / MGWR (4)</c:v>
                  </c:pt>
                  <c:pt idx="4">
                    <c:v>Covariables iguales (11)</c:v>
                  </c:pt>
                  <c:pt idx="5">
                    <c:v>Covariables distintas (5)</c:v>
                  </c:pt>
                  <c:pt idx="6">
                    <c:v>Estaciones independientes (11)</c:v>
                  </c:pt>
                  <c:pt idx="7">
                    <c:v>Validación cruzada (5)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0.118</c:v>
                </c:pt>
                <c:pt idx="1">
                  <c:v>0.189</c:v>
                </c:pt>
                <c:pt idx="2">
                  <c:v>0.144</c:v>
                </c:pt>
                <c:pt idx="3">
                  <c:v>0.119</c:v>
                </c:pt>
                <c:pt idx="4">
                  <c:v>0.11</c:v>
                </c:pt>
                <c:pt idx="5">
                  <c:v>0.243</c:v>
                </c:pt>
                <c:pt idx="6">
                  <c:v>0.193</c:v>
                </c:pt>
                <c:pt idx="7">
                  <c:v>0.025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200" u="none">
                  <a:solidFill>
                    <a:srgbClr val="1B2A3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A3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9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3A4D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F3A4D"/>
                </a:solidFill>
                <a:latin typeface="+mn-lt"/>
              </a:rPr>
              <a:t>Riesgo de sesgo (17 comparaciones)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Riesgo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7D7A"/>
              </a:solidFill>
              <a:effectLst/>
            </c:spPr>
          </c:dPt>
          <c:dPt>
            <c:idx val="1"/>
            <c:bubble3D val="0"/>
            <c:spPr>
              <a:solidFill>
                <a:srgbClr val="8A9BA8"/>
              </a:solidFill>
              <a:effectLst/>
            </c:spPr>
          </c:dPt>
          <c:dPt>
            <c:idx val="2"/>
            <c:bubble3D val="0"/>
            <c:spPr>
              <a:solidFill>
                <a:srgbClr val="B5462F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4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4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4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Bajo</c:v>
                </c:pt>
                <c:pt idx="1">
                  <c:v>Dudoso</c:v>
                </c:pt>
                <c:pt idx="2">
                  <c:v>Alto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3</c:v>
                </c:pt>
                <c:pt idx="1">
                  <c:v>11</c:v>
                </c:pt>
                <c:pt idx="2">
                  <c:v>3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1B2A3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Presentamos una revisión sistemática con metaanálisis que compara la geoestadística con el aprendizaje automático para estimar precipitación y temperatura en sitios sin estaciones en regiones montañosas.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estaciones están en los valles y la variabilidad está en las cumbres. Hay estudios que favorecen al kriging y otros al random forest, pero nadie lo había sintetizado de forma cuantitativa para zonas de montaña.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Periodo 2020 a 2026. La unidad de análisis es la comparación: un par método espacial y método de AA para una variable, un área y un esquema de validación.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Web of Science no pudo consultarse por falta de acceso institucional. Cuando un valor solo aparecía en una figura lo leímos del panel y lo marcamos.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motivos más comunes fueron no tener un método espacial propio y trabajar en áreas nacionales, urbanas o llanas. La búsqueda complementaria del 15 de octubre (seis ecuaciones nuevas en OpenAlex y rastreo de citas) encontró 127 registros nuevos y añadió un estudio: Li et al. 2026. La verificación en Google Scholar (8 consultas, 80 registros) no aportó estudios nuevos. Un estudio no tenía texto completo, otro solo reportaba KGE y en un tercero todos los modelos de AA eran híbridos con kriging (Zhang 2022, que va como sensibilidad); por eso el metaanálisis principal tiene 15 estudios. El cribado lo hicieron dos autores de forma independiente.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Ningún estudio reportó la incertidumbre del RMSE, así que la aproximamos con el número de estaciones de validación. Por eso probamos varios valores de la correlación.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Entre 9 y 3189 estaciones por estudio. Predominan las variantes de kriging como método espacial y random forest como mejor modelo de AA. Solo hay un estudio andino y ninguno del Altiplano.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 el intervalo de predicción incluya el cero significa que en un estudio nuevo la geoestadística podría igualar o superar al AA. Es una ventaja promedio, no una superioridad general.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línea es una comparación con su intervalo de confianza; el tamaño del marcador es el peso. El rombo es el efecto global.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familia del método espacial y la variable no cambian el resultado. Lo que más se asocia a la ventaja del AA es que disponga de más covariables que el método espacial.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resultado es robusto a casi todo, salvo a la calidad del diseño: en las tres comparaciones de bajo riesgo (Sekulić y Argañaraz) no hay diferencia entre métodos. Los tres estudios de riesgo alto tienen fuga de información: Ghorbani (M5 evaluado con los datos de ajuste), Husrevoglu (modelos elegidos por el error de prueba) y Orellana-Samaniego (selección de variables con todos los datos del mes).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pregunta útil parece ser menos geoestadística o AA y más cómo combinar la dependencia espacial con relaciones no lineales.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Sobre América: lo más cercano es un estudio de Costa Rica (kriging frente a RF y Cubist para la temperatura), pero es una ponencia de congreso de alcance nacional y no cumplió los criterios. El sesgo del ganador es importante: si un estudio prueba seis modelos de AA y dos de kriging, el mejor de seis tiene más oportunidades de salir bien por azar.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prioridad más clara es hacer esta comparación en los Andes tropicales y el Altiplano, la región que motivó la revisión.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1F3A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005840"/>
            <a:ext cx="10698480" cy="2560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40480"/>
            <a:ext cx="1069848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Metaanálisis de la predicción espacial en montaña · UNA Puno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B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">
    <p:bg>
      <p:bgPr>
        <a:solidFill>
          <a:srgbClr val="1F3A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6EEF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B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005840"/>
            <a:ext cx="10698480" cy="25603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Metaanálisis del desempeño de la predicción espacial de variables ambientales mediante geoestadística y aprendizaje automático en regiones montañosas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40480"/>
            <a:ext cx="1069848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Revisión sistemática y metaanálisis (PRISMA 2020)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Kris Colquehuanca Zapana · Yeferson Laura Livise · Obed Leon Mamani · Kevin Portillo Machaca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Estadística Espacial · Docente: Fred Torres Cruz · Universidad Nacional del Altiplano, Puno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la montaña faltan estaciones donde más se necesitan</a:t>
            </a:r>
            <a:endParaRPr lang="en-US" sz="3400" dirty="0"/>
          </a:p>
        </p:txBody>
      </p:sp>
      <p:sp>
        <p:nvSpPr>
          <p:cNvPr id="3" name="texto_1"/>
          <p:cNvSpPr txBox="1"/>
          <p:nvPr/>
        </p:nvSpPr>
        <p:spPr>
          <a:xfrm>
            <a:off x="548640" y="1371600"/>
            <a:ext cx="60350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Las redes de monitoreo son escasas y se concentran en los valles, mientras la lluvia y la temperatura cambian con la altitud.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Para mapear estas variables hay dos familias de métodos: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Geoestadística: kriging, cokriging, regresión-kriging, GWR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Aprendizaje automático (AA): random forest, boosting, SVM, redes neuronales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La evidencia que las compara es contradictoria y está dispersa.</a:t>
            </a:r>
            <a:endParaRPr lang="en-US" sz="1800" dirty="0"/>
          </a:p>
        </p:txBody>
      </p:sp>
      <p:sp>
        <p:nvSpPr>
          <p:cNvPr id="4" name="tarjeta_2"/>
          <p:cNvSpPr/>
          <p:nvPr/>
        </p:nvSpPr>
        <p:spPr>
          <a:xfrm>
            <a:off x="7040880" y="1463040"/>
            <a:ext cx="4572000" cy="2103120"/>
          </a:xfrm>
          <a:prstGeom prst="roundRect">
            <a:avLst>
              <a:gd name="adj" fmla="val 521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o_3"/>
          <p:cNvSpPr txBox="1"/>
          <p:nvPr/>
        </p:nvSpPr>
        <p:spPr>
          <a:xfrm>
            <a:off x="7315200" y="1645920"/>
            <a:ext cx="40233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Vacío</a:t>
            </a:r>
            <a:endParaRPr lang="en-US" sz="1600" dirty="0"/>
          </a:p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No hay una síntesis cuantitativa de cuál predice mejor en terreno montañoso.</a:t>
            </a:r>
            <a:endParaRPr lang="en-US" sz="1600" dirty="0"/>
          </a:p>
        </p:txBody>
      </p:sp>
      <p:sp>
        <p:nvSpPr>
          <p:cNvPr id="6" name="tarjeta_4"/>
          <p:cNvSpPr/>
          <p:nvPr/>
        </p:nvSpPr>
        <p:spPr>
          <a:xfrm>
            <a:off x="7040880" y="3840480"/>
            <a:ext cx="457200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o_5"/>
          <p:cNvSpPr txBox="1"/>
          <p:nvPr/>
        </p:nvSpPr>
        <p:spPr>
          <a:xfrm>
            <a:off x="7315200" y="4023360"/>
            <a:ext cx="40233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Pregunta</a:t>
            </a:r>
            <a:endParaRPr lang="en-US" sz="16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¿Cómo se compara el error fuera de muestra de ambos enfoques y qué explica las diferencias?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B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Pregunta estructurada con PICO</a:t>
            </a:r>
            <a:endParaRPr lang="en-US" sz="3400" dirty="0"/>
          </a:p>
        </p:txBody>
      </p:sp>
      <p:sp>
        <p:nvSpPr>
          <p:cNvPr id="3" name="tarjeta_6"/>
          <p:cNvSpPr/>
          <p:nvPr/>
        </p:nvSpPr>
        <p:spPr>
          <a:xfrm>
            <a:off x="548640" y="1554480"/>
            <a:ext cx="2606040" cy="365760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pico_7"/>
          <p:cNvSpPr/>
          <p:nvPr/>
        </p:nvSpPr>
        <p:spPr>
          <a:xfrm>
            <a:off x="777240" y="1783080"/>
            <a:ext cx="822960" cy="8229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o_8"/>
          <p:cNvSpPr txBox="1"/>
          <p:nvPr/>
        </p:nvSpPr>
        <p:spPr>
          <a:xfrm>
            <a:off x="777240" y="17830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P</a:t>
            </a:r>
            <a:endParaRPr lang="en-US" sz="3000" dirty="0"/>
          </a:p>
        </p:txBody>
      </p:sp>
      <p:sp>
        <p:nvSpPr>
          <p:cNvPr id="6" name="texto_9"/>
          <p:cNvSpPr txBox="1"/>
          <p:nvPr/>
        </p:nvSpPr>
        <p:spPr>
          <a:xfrm>
            <a:off x="777240" y="27889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Población</a:t>
            </a:r>
            <a:endParaRPr lang="en-US" sz="2000" dirty="0"/>
          </a:p>
        </p:txBody>
      </p:sp>
      <p:sp>
        <p:nvSpPr>
          <p:cNvPr id="7" name="texto_10"/>
          <p:cNvSpPr txBox="1"/>
          <p:nvPr/>
        </p:nvSpPr>
        <p:spPr>
          <a:xfrm>
            <a:off x="777240" y="32918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Estudios que estiman precipitación, temperatura, índices de sequía o PM2.5 en sitios sin medición en montaña</a:t>
            </a:r>
            <a:endParaRPr lang="en-US" sz="1600" dirty="0"/>
          </a:p>
        </p:txBody>
      </p:sp>
      <p:sp>
        <p:nvSpPr>
          <p:cNvPr id="8" name="tarjeta_11"/>
          <p:cNvSpPr/>
          <p:nvPr/>
        </p:nvSpPr>
        <p:spPr>
          <a:xfrm>
            <a:off x="3364992" y="1554480"/>
            <a:ext cx="2606040" cy="365760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pico_12"/>
          <p:cNvSpPr/>
          <p:nvPr/>
        </p:nvSpPr>
        <p:spPr>
          <a:xfrm>
            <a:off x="3593592" y="1783080"/>
            <a:ext cx="822960" cy="8229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texto_13"/>
          <p:cNvSpPr txBox="1"/>
          <p:nvPr/>
        </p:nvSpPr>
        <p:spPr>
          <a:xfrm>
            <a:off x="3593592" y="17830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I</a:t>
            </a:r>
            <a:endParaRPr lang="en-US" sz="3000" dirty="0"/>
          </a:p>
        </p:txBody>
      </p:sp>
      <p:sp>
        <p:nvSpPr>
          <p:cNvPr id="11" name="texto_14"/>
          <p:cNvSpPr txBox="1"/>
          <p:nvPr/>
        </p:nvSpPr>
        <p:spPr>
          <a:xfrm>
            <a:off x="3593592" y="27889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Intervención</a:t>
            </a:r>
            <a:endParaRPr lang="en-US" sz="2000" dirty="0"/>
          </a:p>
        </p:txBody>
      </p:sp>
      <p:sp>
        <p:nvSpPr>
          <p:cNvPr id="12" name="texto_15"/>
          <p:cNvSpPr txBox="1"/>
          <p:nvPr/>
        </p:nvSpPr>
        <p:spPr>
          <a:xfrm>
            <a:off x="3593592" y="32918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Métodos espaciales: KO, KU, KED, RK, CoK, EBK, GWR, MGWR</a:t>
            </a:r>
            <a:endParaRPr lang="en-US" sz="1600" dirty="0"/>
          </a:p>
        </p:txBody>
      </p:sp>
      <p:sp>
        <p:nvSpPr>
          <p:cNvPr id="13" name="tarjeta_16"/>
          <p:cNvSpPr/>
          <p:nvPr/>
        </p:nvSpPr>
        <p:spPr>
          <a:xfrm>
            <a:off x="6181344" y="1554480"/>
            <a:ext cx="2606040" cy="365760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pico_17"/>
          <p:cNvSpPr/>
          <p:nvPr/>
        </p:nvSpPr>
        <p:spPr>
          <a:xfrm>
            <a:off x="6409944" y="178308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o_18"/>
          <p:cNvSpPr txBox="1"/>
          <p:nvPr/>
        </p:nvSpPr>
        <p:spPr>
          <a:xfrm>
            <a:off x="6409944" y="17830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C</a:t>
            </a:r>
            <a:endParaRPr lang="en-US" sz="3000" dirty="0"/>
          </a:p>
        </p:txBody>
      </p:sp>
      <p:sp>
        <p:nvSpPr>
          <p:cNvPr id="16" name="texto_19"/>
          <p:cNvSpPr txBox="1"/>
          <p:nvPr/>
        </p:nvSpPr>
        <p:spPr>
          <a:xfrm>
            <a:off x="6409944" y="27889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Comparación</a:t>
            </a:r>
            <a:endParaRPr lang="en-US" sz="2000" dirty="0"/>
          </a:p>
        </p:txBody>
      </p:sp>
      <p:sp>
        <p:nvSpPr>
          <p:cNvPr id="17" name="texto_20"/>
          <p:cNvSpPr txBox="1"/>
          <p:nvPr/>
        </p:nvSpPr>
        <p:spPr>
          <a:xfrm>
            <a:off x="6409944" y="32918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Aprendizaje automático: RF, boosting, SVM, redes neuronales, GPR, M5</a:t>
            </a:r>
            <a:endParaRPr lang="en-US" sz="1600" dirty="0"/>
          </a:p>
        </p:txBody>
      </p:sp>
      <p:sp>
        <p:nvSpPr>
          <p:cNvPr id="18" name="tarjeta_21"/>
          <p:cNvSpPr/>
          <p:nvPr/>
        </p:nvSpPr>
        <p:spPr>
          <a:xfrm>
            <a:off x="8997696" y="1554480"/>
            <a:ext cx="2606040" cy="365760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pico_22"/>
          <p:cNvSpPr/>
          <p:nvPr/>
        </p:nvSpPr>
        <p:spPr>
          <a:xfrm>
            <a:off x="9226296" y="1783080"/>
            <a:ext cx="822960" cy="82296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0" name="texto_23"/>
          <p:cNvSpPr txBox="1"/>
          <p:nvPr/>
        </p:nvSpPr>
        <p:spPr>
          <a:xfrm>
            <a:off x="9226296" y="17830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</a:t>
            </a:r>
            <a:endParaRPr lang="en-US" sz="3000" dirty="0"/>
          </a:p>
        </p:txBody>
      </p:sp>
      <p:sp>
        <p:nvSpPr>
          <p:cNvPr id="21" name="texto_24"/>
          <p:cNvSpPr txBox="1"/>
          <p:nvPr/>
        </p:nvSpPr>
        <p:spPr>
          <a:xfrm>
            <a:off x="9226296" y="27889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Resultado</a:t>
            </a:r>
            <a:endParaRPr lang="en-US" sz="2000" dirty="0"/>
          </a:p>
        </p:txBody>
      </p:sp>
      <p:sp>
        <p:nvSpPr>
          <p:cNvPr id="22" name="texto_25"/>
          <p:cNvSpPr txBox="1"/>
          <p:nvPr/>
        </p:nvSpPr>
        <p:spPr>
          <a:xfrm>
            <a:off x="9226296" y="32918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Error fuera de muestra frente a estaciones: ln(RMSE espacial / RMSE AA)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B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Cómo hicimos la revisión</a:t>
            </a:r>
            <a:endParaRPr lang="en-US" sz="3400" dirty="0"/>
          </a:p>
        </p:txBody>
      </p:sp>
      <p:sp>
        <p:nvSpPr>
          <p:cNvPr id="3" name="circulo_26"/>
          <p:cNvSpPr/>
          <p:nvPr/>
        </p:nvSpPr>
        <p:spPr>
          <a:xfrm>
            <a:off x="640080" y="150876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num_27"/>
          <p:cNvSpPr txBox="1"/>
          <p:nvPr/>
        </p:nvSpPr>
        <p:spPr>
          <a:xfrm>
            <a:off x="640080" y="1508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exto_28"/>
          <p:cNvSpPr txBox="1"/>
          <p:nvPr/>
        </p:nvSpPr>
        <p:spPr>
          <a:xfrm>
            <a:off x="1508760" y="141732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Búsqueda</a:t>
            </a:r>
            <a:endParaRPr lang="en-US" sz="2200" dirty="0"/>
          </a:p>
        </p:txBody>
      </p:sp>
      <p:sp>
        <p:nvSpPr>
          <p:cNvPr id="6" name="texto_29"/>
          <p:cNvSpPr txBox="1"/>
          <p:nvPr/>
        </p:nvSpPr>
        <p:spPr>
          <a:xfrm>
            <a:off x="3931920" y="141732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Scopus, OpenAlex, SciELO y Redalyc (12–13 oct 2026). Ecuación de 5 bloques: variable, montaña, geoestadística, AA y desempeño</a:t>
            </a:r>
            <a:endParaRPr lang="en-US" sz="1600" dirty="0"/>
          </a:p>
        </p:txBody>
      </p:sp>
      <p:sp>
        <p:nvSpPr>
          <p:cNvPr id="7" name="circulo_30"/>
          <p:cNvSpPr/>
          <p:nvPr/>
        </p:nvSpPr>
        <p:spPr>
          <a:xfrm>
            <a:off x="640080" y="2715768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num_31"/>
          <p:cNvSpPr txBox="1"/>
          <p:nvPr/>
        </p:nvSpPr>
        <p:spPr>
          <a:xfrm>
            <a:off x="640080" y="271576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texto_32"/>
          <p:cNvSpPr txBox="1"/>
          <p:nvPr/>
        </p:nvSpPr>
        <p:spPr>
          <a:xfrm>
            <a:off x="1508760" y="2624328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Selección</a:t>
            </a:r>
            <a:endParaRPr lang="en-US" sz="2200" dirty="0"/>
          </a:p>
        </p:txBody>
      </p:sp>
      <p:sp>
        <p:nvSpPr>
          <p:cNvPr id="10" name="texto_33"/>
          <p:cNvSpPr txBox="1"/>
          <p:nvPr/>
        </p:nvSpPr>
        <p:spPr>
          <a:xfrm>
            <a:off x="3931920" y="2624328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8 criterios de inclusión y 9 de exclusión. Exige ambos brazos, validación con estaciones y área montañosa subnacional</a:t>
            </a:r>
            <a:endParaRPr lang="en-US" sz="1600" dirty="0"/>
          </a:p>
        </p:txBody>
      </p:sp>
      <p:sp>
        <p:nvSpPr>
          <p:cNvPr id="11" name="circulo_34"/>
          <p:cNvSpPr/>
          <p:nvPr/>
        </p:nvSpPr>
        <p:spPr>
          <a:xfrm>
            <a:off x="640080" y="3922776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num_35"/>
          <p:cNvSpPr txBox="1"/>
          <p:nvPr/>
        </p:nvSpPr>
        <p:spPr>
          <a:xfrm>
            <a:off x="640080" y="392277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3" name="texto_36"/>
          <p:cNvSpPr txBox="1"/>
          <p:nvPr/>
        </p:nvSpPr>
        <p:spPr>
          <a:xfrm>
            <a:off x="1508760" y="3831336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Extracción</a:t>
            </a:r>
            <a:endParaRPr lang="en-US" sz="2200" dirty="0"/>
          </a:p>
        </p:txBody>
      </p:sp>
      <p:sp>
        <p:nvSpPr>
          <p:cNvPr id="14" name="texto_37"/>
          <p:cNvSpPr txBox="1"/>
          <p:nvPr/>
        </p:nvSpPr>
        <p:spPr>
          <a:xfrm>
            <a:off x="3931920" y="3831336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Ficha estandarizada: estaciones, validación, covariables y RMSE de cada brazo, leído en tablas o figuras</a:t>
            </a:r>
            <a:endParaRPr lang="en-US" sz="1600" dirty="0"/>
          </a:p>
        </p:txBody>
      </p:sp>
      <p:sp>
        <p:nvSpPr>
          <p:cNvPr id="15" name="circulo_38"/>
          <p:cNvSpPr/>
          <p:nvPr/>
        </p:nvSpPr>
        <p:spPr>
          <a:xfrm>
            <a:off x="640080" y="5129784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num_39"/>
          <p:cNvSpPr txBox="1"/>
          <p:nvPr/>
        </p:nvSpPr>
        <p:spPr>
          <a:xfrm>
            <a:off x="640080" y="512978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7" name="texto_40"/>
          <p:cNvSpPr txBox="1"/>
          <p:nvPr/>
        </p:nvSpPr>
        <p:spPr>
          <a:xfrm>
            <a:off x="1508760" y="5038344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Síntesis</a:t>
            </a:r>
            <a:endParaRPr lang="en-US" sz="2200" dirty="0"/>
          </a:p>
        </p:txBody>
      </p:sp>
      <p:sp>
        <p:nvSpPr>
          <p:cNvPr id="18" name="texto_41"/>
          <p:cNvSpPr txBox="1"/>
          <p:nvPr/>
        </p:nvSpPr>
        <p:spPr>
          <a:xfrm>
            <a:off x="3931920" y="5038344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Efectos aleatorios REML con ajuste de Hartung–Knapp, subgrupos, sensibilidad, Egger y riesgo de sesgo (PROBAST)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B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390 registros llegaron 18 estudios</a:t>
            </a:r>
            <a:endParaRPr lang="en-US" sz="3400" dirty="0"/>
          </a:p>
        </p:txBody>
      </p:sp>
      <p:sp>
        <p:nvSpPr>
          <p:cNvPr id="3" name="tarjeta_42"/>
          <p:cNvSpPr/>
          <p:nvPr/>
        </p:nvSpPr>
        <p:spPr>
          <a:xfrm>
            <a:off x="914400" y="1371600"/>
            <a:ext cx="384048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o_43"/>
          <p:cNvSpPr txBox="1"/>
          <p:nvPr/>
        </p:nvSpPr>
        <p:spPr>
          <a:xfrm>
            <a:off x="914400" y="1371600"/>
            <a:ext cx="3840480" cy="9144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Búsqueda principal: 263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bases: 254 · otras fuentes: 9</a:t>
            </a:r>
            <a:endParaRPr lang="en-US" sz="1600" dirty="0"/>
          </a:p>
        </p:txBody>
      </p:sp>
      <p:sp>
        <p:nvSpPr>
          <p:cNvPr id="5" name="tarjeta_44"/>
          <p:cNvSpPr/>
          <p:nvPr/>
        </p:nvSpPr>
        <p:spPr>
          <a:xfrm>
            <a:off x="914400" y="2743200"/>
            <a:ext cx="384048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o_45"/>
          <p:cNvSpPr txBox="1"/>
          <p:nvPr/>
        </p:nvSpPr>
        <p:spPr>
          <a:xfrm>
            <a:off x="914400" y="2743200"/>
            <a:ext cx="3840480" cy="7315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Evaluados: 194</a:t>
            </a:r>
            <a:endParaRPr lang="en-US" sz="1600" dirty="0"/>
          </a:p>
        </p:txBody>
      </p:sp>
      <p:sp>
        <p:nvSpPr>
          <p:cNvPr id="7" name="tarjeta_46"/>
          <p:cNvSpPr/>
          <p:nvPr/>
        </p:nvSpPr>
        <p:spPr>
          <a:xfrm>
            <a:off x="914400" y="3931920"/>
            <a:ext cx="3840480" cy="82296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o_47"/>
          <p:cNvSpPr txBox="1"/>
          <p:nvPr/>
        </p:nvSpPr>
        <p:spPr>
          <a:xfrm>
            <a:off x="914400" y="3931920"/>
            <a:ext cx="3840480" cy="822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Incluidos: 18 estudios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19 comparaciones</a:t>
            </a:r>
            <a:endParaRPr lang="en-US" sz="1600" dirty="0"/>
          </a:p>
        </p:txBody>
      </p:sp>
      <p:sp>
        <p:nvSpPr>
          <p:cNvPr id="9" name="tarjeta_48"/>
          <p:cNvSpPr/>
          <p:nvPr/>
        </p:nvSpPr>
        <p:spPr>
          <a:xfrm>
            <a:off x="914400" y="5212080"/>
            <a:ext cx="3840480" cy="82296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o_49"/>
          <p:cNvSpPr txBox="1"/>
          <p:nvPr/>
        </p:nvSpPr>
        <p:spPr>
          <a:xfrm>
            <a:off x="914400" y="5212080"/>
            <a:ext cx="3840480" cy="822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Metaanálisis: 15 estudios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16 comparaciones</a:t>
            </a:r>
            <a:endParaRPr lang="en-US" sz="1600" dirty="0"/>
          </a:p>
        </p:txBody>
      </p:sp>
      <p:sp>
        <p:nvSpPr>
          <p:cNvPr id="11" name="flecha_50"/>
          <p:cNvSpPr/>
          <p:nvPr/>
        </p:nvSpPr>
        <p:spPr>
          <a:xfrm>
            <a:off x="2834640" y="2286000"/>
            <a:ext cx="0" cy="457200"/>
          </a:xfrm>
          <a:prstGeom prst="line">
            <a:avLst/>
          </a:prstGeom>
          <a:noFill/>
          <a:ln w="19050">
            <a:solidFill>
              <a:srgbClr val="8A9BA8"/>
            </a:solidFill>
            <a:prstDash val="solid"/>
            <a:tailEnd type="triangle"/>
          </a:ln>
        </p:spPr>
      </p:sp>
      <p:sp>
        <p:nvSpPr>
          <p:cNvPr id="12" name="flecha_51"/>
          <p:cNvSpPr/>
          <p:nvPr/>
        </p:nvSpPr>
        <p:spPr>
          <a:xfrm>
            <a:off x="2834640" y="3474720"/>
            <a:ext cx="0" cy="457200"/>
          </a:xfrm>
          <a:prstGeom prst="line">
            <a:avLst/>
          </a:prstGeom>
          <a:noFill/>
          <a:ln w="19050">
            <a:solidFill>
              <a:srgbClr val="8A9BA8"/>
            </a:solidFill>
            <a:prstDash val="solid"/>
            <a:tailEnd type="triangle"/>
          </a:ln>
        </p:spPr>
      </p:sp>
      <p:sp>
        <p:nvSpPr>
          <p:cNvPr id="13" name="flecha_52"/>
          <p:cNvSpPr/>
          <p:nvPr/>
        </p:nvSpPr>
        <p:spPr>
          <a:xfrm>
            <a:off x="2834640" y="4754880"/>
            <a:ext cx="0" cy="457200"/>
          </a:xfrm>
          <a:prstGeom prst="line">
            <a:avLst/>
          </a:prstGeom>
          <a:noFill/>
          <a:ln w="19050">
            <a:solidFill>
              <a:srgbClr val="8A9BA8"/>
            </a:solidFill>
            <a:prstDash val="solid"/>
            <a:tailEnd type="triangle"/>
          </a:ln>
        </p:spPr>
      </p:sp>
      <p:sp>
        <p:nvSpPr>
          <p:cNvPr id="14" name="tarjeta_53"/>
          <p:cNvSpPr/>
          <p:nvPr/>
        </p:nvSpPr>
        <p:spPr>
          <a:xfrm>
            <a:off x="5486400" y="1463040"/>
            <a:ext cx="274320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o_54"/>
          <p:cNvSpPr txBox="1"/>
          <p:nvPr/>
        </p:nvSpPr>
        <p:spPr>
          <a:xfrm>
            <a:off x="5486400" y="1463040"/>
            <a:ext cx="2743200" cy="7315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Por año (CE1): 69</a:t>
            </a:r>
            <a:endParaRPr lang="en-US" sz="1600" dirty="0"/>
          </a:p>
        </p:txBody>
      </p:sp>
      <p:sp>
        <p:nvSpPr>
          <p:cNvPr id="16" name="flecha_55"/>
          <p:cNvSpPr/>
          <p:nvPr/>
        </p:nvSpPr>
        <p:spPr>
          <a:xfrm>
            <a:off x="4754880" y="1828800"/>
            <a:ext cx="731520" cy="0"/>
          </a:xfrm>
          <a:prstGeom prst="line">
            <a:avLst/>
          </a:prstGeom>
          <a:noFill/>
          <a:ln w="19050">
            <a:solidFill>
              <a:srgbClr val="8A9BA8"/>
            </a:solidFill>
            <a:prstDash val="solid"/>
            <a:tailEnd type="triangle"/>
          </a:ln>
        </p:spPr>
      </p:sp>
      <p:sp>
        <p:nvSpPr>
          <p:cNvPr id="17" name="tarjeta_56"/>
          <p:cNvSpPr/>
          <p:nvPr/>
        </p:nvSpPr>
        <p:spPr>
          <a:xfrm>
            <a:off x="5486400" y="2606040"/>
            <a:ext cx="2743200" cy="1188720"/>
          </a:xfrm>
          <a:prstGeom prst="roundRect">
            <a:avLst>
              <a:gd name="adj" fmla="val 923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o_57"/>
          <p:cNvSpPr txBox="1"/>
          <p:nvPr/>
        </p:nvSpPr>
        <p:spPr>
          <a:xfrm>
            <a:off x="5486400" y="2606040"/>
            <a:ext cx="2743200" cy="11887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Búsquedas complementarias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OpenAlex: 127 · 1 incluido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Google Scholar: 80 · 0 nuevos</a:t>
            </a:r>
            <a:endParaRPr lang="en-US" sz="1600" dirty="0"/>
          </a:p>
        </p:txBody>
      </p:sp>
      <p:sp>
        <p:nvSpPr>
          <p:cNvPr id="19" name="flecha_58"/>
          <p:cNvSpPr/>
          <p:nvPr/>
        </p:nvSpPr>
        <p:spPr>
          <a:xfrm>
            <a:off x="5486400" y="3749040"/>
            <a:ext cx="-731520" cy="457200"/>
          </a:xfrm>
          <a:prstGeom prst="line">
            <a:avLst/>
          </a:prstGeom>
          <a:noFill/>
          <a:ln w="19050">
            <a:solidFill>
              <a:srgbClr val="8A9BA8"/>
            </a:solidFill>
            <a:prstDash val="solid"/>
            <a:tailEnd type="triangle"/>
          </a:ln>
        </p:spPr>
      </p:sp>
      <p:sp>
        <p:nvSpPr>
          <p:cNvPr id="20" name="tarjeta_59"/>
          <p:cNvSpPr/>
          <p:nvPr/>
        </p:nvSpPr>
        <p:spPr>
          <a:xfrm>
            <a:off x="5486400" y="5120640"/>
            <a:ext cx="274320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o_60"/>
          <p:cNvSpPr txBox="1"/>
          <p:nvPr/>
        </p:nvSpPr>
        <p:spPr>
          <a:xfrm>
            <a:off x="5486400" y="5120640"/>
            <a:ext cx="2743200" cy="10515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Sin texto completo: 1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Sin RMSE (solo KGE): 1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Solo AA híbrido: 1</a:t>
            </a:r>
            <a:endParaRPr lang="en-US" sz="1600" dirty="0"/>
          </a:p>
        </p:txBody>
      </p:sp>
      <p:sp>
        <p:nvSpPr>
          <p:cNvPr id="22" name="flecha_61"/>
          <p:cNvSpPr/>
          <p:nvPr/>
        </p:nvSpPr>
        <p:spPr>
          <a:xfrm>
            <a:off x="4754880" y="5623560"/>
            <a:ext cx="731520" cy="45720"/>
          </a:xfrm>
          <a:prstGeom prst="line">
            <a:avLst/>
          </a:prstGeom>
          <a:noFill/>
          <a:ln w="19050">
            <a:solidFill>
              <a:srgbClr val="8A9BA8"/>
            </a:solidFill>
            <a:prstDash val="solid"/>
            <a:tailEnd type="triangle"/>
          </a:ln>
        </p:spPr>
      </p:sp>
      <p:graphicFrame>
        <p:nvGraphicFramePr>
          <p:cNvPr id="23" name="grafico_62" descr=""/>
          <p:cNvGraphicFramePr/>
          <p:nvPr/>
        </p:nvGraphicFramePr>
        <p:xfrm>
          <a:off x="8503920" y="1280160"/>
          <a:ext cx="338328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B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medida común: la razón logarítmica de RMSE</a:t>
            </a:r>
            <a:endParaRPr lang="en-US" sz="3400" dirty="0"/>
          </a:p>
        </p:txBody>
      </p:sp>
      <p:sp>
        <p:nvSpPr>
          <p:cNvPr id="3" name="tarjeta_63"/>
          <p:cNvSpPr/>
          <p:nvPr/>
        </p:nvSpPr>
        <p:spPr>
          <a:xfrm>
            <a:off x="548640" y="1463040"/>
            <a:ext cx="5760720" cy="1828800"/>
          </a:xfrm>
          <a:prstGeom prst="roundRect">
            <a:avLst>
              <a:gd name="adj" fmla="val 6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o_64"/>
          <p:cNvSpPr txBox="1"/>
          <p:nvPr/>
        </p:nvSpPr>
        <p:spPr>
          <a:xfrm>
            <a:off x="731520" y="1554480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= ln( RMSE espacial / RMSE AA )</a:t>
            </a:r>
            <a:endParaRPr lang="en-US" sz="2500" dirty="0"/>
          </a:p>
        </p:txBody>
      </p:sp>
      <p:sp>
        <p:nvSpPr>
          <p:cNvPr id="5" name="texto_65"/>
          <p:cNvSpPr txBox="1"/>
          <p:nvPr/>
        </p:nvSpPr>
        <p:spPr>
          <a:xfrm>
            <a:off x="731520" y="2468880"/>
            <a:ext cx="5394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y &gt; 0: el AA tiene menor error · y &lt; 0: gana el método espacial</a:t>
            </a:r>
            <a:endParaRPr lang="en-US" sz="1500" dirty="0"/>
          </a:p>
        </p:txBody>
      </p:sp>
      <p:sp>
        <p:nvSpPr>
          <p:cNvPr id="6" name="texto_66"/>
          <p:cNvSpPr txBox="1"/>
          <p:nvPr/>
        </p:nvSpPr>
        <p:spPr>
          <a:xfrm>
            <a:off x="548640" y="3657600"/>
            <a:ext cx="576072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Permite combinar milímetros y grados porque es adimensional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Se compara el mejor método espacial con el mejor AA no híbrido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Si hay un RMSE por año, mes o evento, se promedia el efecto</a:t>
            </a:r>
            <a:endParaRPr lang="en-US" sz="1700" dirty="0"/>
          </a:p>
        </p:txBody>
      </p:sp>
      <p:sp>
        <p:nvSpPr>
          <p:cNvPr id="7" name="tarjeta_67"/>
          <p:cNvSpPr/>
          <p:nvPr/>
        </p:nvSpPr>
        <p:spPr>
          <a:xfrm>
            <a:off x="6766560" y="1463040"/>
            <a:ext cx="4846320" cy="4572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o_68"/>
          <p:cNvSpPr txBox="1"/>
          <p:nvPr/>
        </p:nvSpPr>
        <p:spPr>
          <a:xfrm>
            <a:off x="7040880" y="1645920"/>
            <a:ext cx="438912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chemeClr val="accent2"/>
                </a:solidFill>
              </a:rPr>
              <a:t>Varianza aproximada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 = (1 − ρ) / n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n: estaciones de validación. ρ: correlación entre los errores de ambos métodos, que se evalúan en las mismas estaciones.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Principal: ρ = 0,5. Sensibilidad: ρ = 0 y ρ = 0,8.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B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evidencia viene sobre todo de China e Irán</a:t>
            </a:r>
            <a:endParaRPr lang="en-US" sz="3400" dirty="0"/>
          </a:p>
        </p:txBody>
      </p:sp>
      <p:graphicFrame>
        <p:nvGraphicFramePr>
          <p:cNvPr id="3" name="grafico_69" descr=""/>
          <p:cNvGraphicFramePr/>
          <p:nvPr/>
        </p:nvGraphicFramePr>
        <p:xfrm>
          <a:off x="457200" y="1280160"/>
          <a:ext cx="603504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arjeta_70"/>
          <p:cNvSpPr/>
          <p:nvPr/>
        </p:nvSpPr>
        <p:spPr>
          <a:xfrm>
            <a:off x="6858000" y="1371600"/>
            <a:ext cx="475488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o_71"/>
          <p:cNvSpPr txBox="1"/>
          <p:nvPr/>
        </p:nvSpPr>
        <p:spPr>
          <a:xfrm>
            <a:off x="7040880" y="1371600"/>
            <a:ext cx="1188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4000" dirty="0"/>
          </a:p>
        </p:txBody>
      </p:sp>
      <p:sp>
        <p:nvSpPr>
          <p:cNvPr id="6" name="texto_72"/>
          <p:cNvSpPr txBox="1"/>
          <p:nvPr/>
        </p:nvSpPr>
        <p:spPr>
          <a:xfrm>
            <a:off x="8229600" y="1371600"/>
            <a:ext cx="3291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solo precipitación</a:t>
            </a:r>
            <a:endParaRPr lang="en-US" sz="1700" dirty="0"/>
          </a:p>
        </p:txBody>
      </p:sp>
      <p:sp>
        <p:nvSpPr>
          <p:cNvPr id="7" name="tarjeta_73"/>
          <p:cNvSpPr/>
          <p:nvPr/>
        </p:nvSpPr>
        <p:spPr>
          <a:xfrm>
            <a:off x="6858000" y="2587752"/>
            <a:ext cx="475488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o_74"/>
          <p:cNvSpPr txBox="1"/>
          <p:nvPr/>
        </p:nvSpPr>
        <p:spPr>
          <a:xfrm>
            <a:off x="7040880" y="2587752"/>
            <a:ext cx="1188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dirty="0"/>
          </a:p>
        </p:txBody>
      </p:sp>
      <p:sp>
        <p:nvSpPr>
          <p:cNvPr id="9" name="texto_75"/>
          <p:cNvSpPr txBox="1"/>
          <p:nvPr/>
        </p:nvSpPr>
        <p:spPr>
          <a:xfrm>
            <a:off x="8229600" y="2587752"/>
            <a:ext cx="3291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solo temperatura · 1 con ambas</a:t>
            </a:r>
            <a:endParaRPr lang="en-US" sz="1700" dirty="0"/>
          </a:p>
        </p:txBody>
      </p:sp>
      <p:sp>
        <p:nvSpPr>
          <p:cNvPr id="10" name="tarjeta_76"/>
          <p:cNvSpPr/>
          <p:nvPr/>
        </p:nvSpPr>
        <p:spPr>
          <a:xfrm>
            <a:off x="6858000" y="3803904"/>
            <a:ext cx="4754880" cy="1051560"/>
          </a:xfrm>
          <a:prstGeom prst="roundRect">
            <a:avLst>
              <a:gd name="adj" fmla="val 1043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texto_77"/>
          <p:cNvSpPr txBox="1"/>
          <p:nvPr/>
        </p:nvSpPr>
        <p:spPr>
          <a:xfrm>
            <a:off x="7040880" y="3803904"/>
            <a:ext cx="1188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12" name="texto_78"/>
          <p:cNvSpPr txBox="1"/>
          <p:nvPr/>
        </p:nvSpPr>
        <p:spPr>
          <a:xfrm>
            <a:off x="8229600" y="3803904"/>
            <a:ext cx="3291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estudio andino (Ecuador)</a:t>
            </a:r>
            <a:endParaRPr lang="en-US" sz="1700" dirty="0"/>
          </a:p>
        </p:txBody>
      </p:sp>
      <p:sp>
        <p:nvSpPr>
          <p:cNvPr id="13" name="tarjeta_79"/>
          <p:cNvSpPr/>
          <p:nvPr/>
        </p:nvSpPr>
        <p:spPr>
          <a:xfrm>
            <a:off x="6858000" y="5020056"/>
            <a:ext cx="4754880" cy="1051560"/>
          </a:xfrm>
          <a:prstGeom prst="roundRect">
            <a:avLst>
              <a:gd name="adj" fmla="val 1043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4" name="texto_80"/>
          <p:cNvSpPr txBox="1"/>
          <p:nvPr/>
        </p:nvSpPr>
        <p:spPr>
          <a:xfrm>
            <a:off x="7040880" y="5020056"/>
            <a:ext cx="1188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000" dirty="0"/>
          </a:p>
        </p:txBody>
      </p:sp>
      <p:sp>
        <p:nvSpPr>
          <p:cNvPr id="15" name="texto_81"/>
          <p:cNvSpPr txBox="1"/>
          <p:nvPr/>
        </p:nvSpPr>
        <p:spPr>
          <a:xfrm>
            <a:off x="8229600" y="5020056"/>
            <a:ext cx="3291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en el Altiplano, PM2.5 o sequía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B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AA tuvo en promedio un error 12,9 % menor</a:t>
            </a:r>
            <a:endParaRPr lang="en-US" sz="3400" dirty="0"/>
          </a:p>
        </p:txBody>
      </p:sp>
      <p:sp>
        <p:nvSpPr>
          <p:cNvPr id="3" name="tarjeta_82"/>
          <p:cNvSpPr/>
          <p:nvPr/>
        </p:nvSpPr>
        <p:spPr>
          <a:xfrm>
            <a:off x="548640" y="1463040"/>
            <a:ext cx="5120640" cy="4480560"/>
          </a:xfrm>
          <a:prstGeom prst="roundRect">
            <a:avLst>
              <a:gd name="adj" fmla="val 244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o_83"/>
          <p:cNvSpPr txBox="1"/>
          <p:nvPr/>
        </p:nvSpPr>
        <p:spPr>
          <a:xfrm>
            <a:off x="731520" y="1737360"/>
            <a:ext cx="47548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12,9 %</a:t>
            </a:r>
            <a:endParaRPr lang="en-US" sz="7200" dirty="0"/>
          </a:p>
        </p:txBody>
      </p:sp>
      <p:sp>
        <p:nvSpPr>
          <p:cNvPr id="5" name="texto_84"/>
          <p:cNvSpPr txBox="1"/>
          <p:nvPr/>
        </p:nvSpPr>
        <p:spPr>
          <a:xfrm>
            <a:off x="822960" y="3200400"/>
            <a:ext cx="45720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menos RMSE con AA que con el mejor método espacial</a:t>
            </a:r>
            <a:endParaRPr lang="en-US" sz="1800" dirty="0"/>
          </a:p>
        </p:txBody>
      </p:sp>
      <p:sp>
        <p:nvSpPr>
          <p:cNvPr id="6" name="texto_85"/>
          <p:cNvSpPr txBox="1"/>
          <p:nvPr/>
        </p:nvSpPr>
        <p:spPr>
          <a:xfrm>
            <a:off x="822960" y="4206240"/>
            <a:ext cx="45720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IC 95 %: 4,5 – 20,6 % · ln-razón 0,138 · p = 0,006 · k = 16</a:t>
            </a:r>
            <a:endParaRPr lang="en-US" sz="1500" dirty="0"/>
          </a:p>
        </p:txBody>
      </p:sp>
      <p:sp>
        <p:nvSpPr>
          <p:cNvPr id="7" name="tarjeta_86"/>
          <p:cNvSpPr/>
          <p:nvPr/>
        </p:nvSpPr>
        <p:spPr>
          <a:xfrm>
            <a:off x="6126480" y="1463040"/>
            <a:ext cx="548640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o_87"/>
          <p:cNvSpPr txBox="1"/>
          <p:nvPr/>
        </p:nvSpPr>
        <p:spPr>
          <a:xfrm>
            <a:off x="6355080" y="146304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 de 16</a:t>
            </a:r>
            <a:endParaRPr lang="en-US" sz="2600" dirty="0"/>
          </a:p>
        </p:txBody>
      </p:sp>
      <p:sp>
        <p:nvSpPr>
          <p:cNvPr id="9" name="texto_88"/>
          <p:cNvSpPr txBox="1"/>
          <p:nvPr/>
        </p:nvSpPr>
        <p:spPr>
          <a:xfrm>
            <a:off x="8778240" y="1463040"/>
            <a:ext cx="2651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comparaciones favorecen al AA; solo 6 con IC que excluye el cero</a:t>
            </a:r>
            <a:endParaRPr lang="en-US" sz="1500" dirty="0"/>
          </a:p>
        </p:txBody>
      </p:sp>
      <p:sp>
        <p:nvSpPr>
          <p:cNvPr id="10" name="tarjeta_89"/>
          <p:cNvSpPr/>
          <p:nvPr/>
        </p:nvSpPr>
        <p:spPr>
          <a:xfrm>
            <a:off x="6126480" y="3017520"/>
            <a:ext cx="548640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o_90"/>
          <p:cNvSpPr txBox="1"/>
          <p:nvPr/>
        </p:nvSpPr>
        <p:spPr>
          <a:xfrm>
            <a:off x="6355080" y="301752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I² = 60 %</a:t>
            </a:r>
            <a:endParaRPr lang="en-US" sz="2600" dirty="0"/>
          </a:p>
        </p:txBody>
      </p:sp>
      <p:sp>
        <p:nvSpPr>
          <p:cNvPr id="12" name="texto_91"/>
          <p:cNvSpPr txBox="1"/>
          <p:nvPr/>
        </p:nvSpPr>
        <p:spPr>
          <a:xfrm>
            <a:off x="8778240" y="3017520"/>
            <a:ext cx="2651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heterogeneidad moderada (Q = 37,3; p = 0,001)</a:t>
            </a:r>
            <a:endParaRPr lang="en-US" sz="1500" dirty="0"/>
          </a:p>
        </p:txBody>
      </p:sp>
      <p:sp>
        <p:nvSpPr>
          <p:cNvPr id="13" name="tarjeta_92"/>
          <p:cNvSpPr/>
          <p:nvPr/>
        </p:nvSpPr>
        <p:spPr>
          <a:xfrm>
            <a:off x="6126480" y="4572000"/>
            <a:ext cx="548640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o_93"/>
          <p:cNvSpPr txBox="1"/>
          <p:nvPr/>
        </p:nvSpPr>
        <p:spPr>
          <a:xfrm>
            <a:off x="6355080" y="457200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−0,14 a 0,42</a:t>
            </a:r>
            <a:endParaRPr lang="en-US" sz="2600" dirty="0"/>
          </a:p>
        </p:txBody>
      </p:sp>
      <p:sp>
        <p:nvSpPr>
          <p:cNvPr id="15" name="texto_94"/>
          <p:cNvSpPr txBox="1"/>
          <p:nvPr/>
        </p:nvSpPr>
        <p:spPr>
          <a:xfrm>
            <a:off x="8778240" y="4572000"/>
            <a:ext cx="2651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intervalo de predicción: incluye el cero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B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Casi todas las comparaciones se inclinan hacia el AA</a:t>
            </a:r>
            <a:endParaRPr lang="en-US" sz="3400" dirty="0"/>
          </a:p>
        </p:txBody>
      </p:sp>
      <p:pic>
        <p:nvPicPr>
          <p:cNvPr id="3" name="bosque_95" descr="Gráfico de bosque del efecto por comparació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3968496" cy="5029200"/>
          </a:xfrm>
          <a:prstGeom prst="rect">
            <a:avLst/>
          </a:prstGeom>
        </p:spPr>
      </p:pic>
      <p:sp>
        <p:nvSpPr>
          <p:cNvPr id="4" name="texto_96"/>
          <p:cNvSpPr txBox="1"/>
          <p:nvPr/>
        </p:nvSpPr>
        <p:spPr>
          <a:xfrm>
            <a:off x="5120640" y="1463040"/>
            <a:ext cx="64922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tx2"/>
                </a:solidFill>
              </a:rPr>
              <a:t>Favorecieron al método espacial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Kriging universal en Abruzzo, en precipitación y temperatura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Cokriging en lluvias intensas de Guangdong (solo sensibilidad: el AA era híbrido)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tx2"/>
                </a:solidFill>
              </a:rPr>
              <a:t>Mayores ventajas del AA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Anatolia Central: RNA 9,6 mm frente a cokriging 15,6 mm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Fujian: CatBoost 1,21 °C frente a kriging 1,79 °C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Presa Xiluodu: XGB-C 1,17 °C frente a kriging 1,92 °C</a:t>
            </a:r>
            <a:endParaRPr lang="en-US" sz="1700" dirty="0"/>
          </a:p>
          <a:p>
            <a:pPr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En los tres casos el AA tenía covariables que el kriging no usaba.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B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ventaja crece cuando el AA tiene más covariables</a:t>
            </a:r>
            <a:endParaRPr lang="en-US" sz="3400" dirty="0"/>
          </a:p>
        </p:txBody>
      </p:sp>
      <p:graphicFrame>
        <p:nvGraphicFramePr>
          <p:cNvPr id="3" name="grafico_97" descr=""/>
          <p:cNvGraphicFramePr/>
          <p:nvPr/>
        </p:nvGraphicFramePr>
        <p:xfrm>
          <a:off x="457200" y="1280160"/>
          <a:ext cx="694944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arjeta_98"/>
          <p:cNvSpPr/>
          <p:nvPr/>
        </p:nvSpPr>
        <p:spPr>
          <a:xfrm>
            <a:off x="7772400" y="1463040"/>
            <a:ext cx="3840480" cy="2194560"/>
          </a:xfrm>
          <a:prstGeom prst="roundRect">
            <a:avLst>
              <a:gd name="adj" fmla="val 5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o_99"/>
          <p:cNvSpPr txBox="1"/>
          <p:nvPr/>
        </p:nvSpPr>
        <p:spPr>
          <a:xfrm>
            <a:off x="8001000" y="1645920"/>
            <a:ext cx="34747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Covariables iguales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Efecto menor (0,110) y casi homogéneo (I² = 11 %)</a:t>
            </a:r>
            <a:endParaRPr lang="en-US" sz="1700" dirty="0"/>
          </a:p>
        </p:txBody>
      </p:sp>
      <p:sp>
        <p:nvSpPr>
          <p:cNvPr id="6" name="tarjeta_100"/>
          <p:cNvSpPr/>
          <p:nvPr/>
        </p:nvSpPr>
        <p:spPr>
          <a:xfrm>
            <a:off x="7772400" y="3931920"/>
            <a:ext cx="384048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o_101"/>
          <p:cNvSpPr txBox="1"/>
          <p:nvPr/>
        </p:nvSpPr>
        <p:spPr>
          <a:xfrm>
            <a:off x="8001000" y="4114800"/>
            <a:ext cx="34747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Solo la validación marca diferencia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Estaciones independientes 0,193 frente a validación cruzada 0,025 (p = 0,006).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B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los estudios de bajo riesgo la ventaja desaparece</a:t>
            </a:r>
            <a:endParaRPr lang="en-US" sz="3400" dirty="0"/>
          </a:p>
        </p:txBody>
      </p:sp>
      <p:graphicFrame>
        <p:nvGraphicFramePr>
          <p:cNvPr id="3" name="grafico_102" descr=""/>
          <p:cNvGraphicFramePr/>
          <p:nvPr/>
        </p:nvGraphicFramePr>
        <p:xfrm>
          <a:off x="457200" y="1371600"/>
          <a:ext cx="420624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2" name="tabla_10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20640" y="1463040"/>
          <a:ext cx="64922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731520"/>
                <a:gridCol w="310896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Análisis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k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ln-razón (IC 95 %)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A4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Global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6EE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16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6EE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0,138 (0,046; 0,231)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6EE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Sin riesgo alto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13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0,128 (0,031; 0,226)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Con brazo híbrido (Zhang)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6EE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17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6EE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0,125 (0,034; 0,216)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6EE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ρ = 0 / ρ = 0,8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16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0,122 / 0,148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Omitir uno a la vez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6EE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6EE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0,114 a 0,153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6EE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5"/>
                          </a:solidFill>
                        </a:rPr>
                        <a:t>Solo riesgo bajo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5"/>
                          </a:solidFill>
                        </a:rPr>
                        <a:t>3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5"/>
                          </a:solidFill>
                        </a:rPr>
                        <a:t>−0,022 (−0,279; 0,236)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o_104"/>
          <p:cNvSpPr txBox="1"/>
          <p:nvPr/>
        </p:nvSpPr>
        <p:spPr>
          <a:xfrm>
            <a:off x="5120640" y="5029200"/>
            <a:ext cx="6492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4"/>
                </a:solidFill>
              </a:rPr>
              <a:t>Egger: intercepto 1,33; p = 0,18. Sin asimetría evidente en el embudo.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B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lecturas de los resultados</a:t>
            </a:r>
            <a:endParaRPr lang="en-US" sz="3400" dirty="0"/>
          </a:p>
        </p:txBody>
      </p:sp>
      <p:sp>
        <p:nvSpPr>
          <p:cNvPr id="3" name="tarjeta_105"/>
          <p:cNvSpPr/>
          <p:nvPr/>
        </p:nvSpPr>
        <p:spPr>
          <a:xfrm>
            <a:off x="548640" y="1417320"/>
            <a:ext cx="1106424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irculo_106"/>
          <p:cNvSpPr/>
          <p:nvPr/>
        </p:nvSpPr>
        <p:spPr>
          <a:xfrm>
            <a:off x="822960" y="178308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num_107"/>
          <p:cNvSpPr txBox="1"/>
          <p:nvPr/>
        </p:nvSpPr>
        <p:spPr>
          <a:xfrm>
            <a:off x="822960" y="1783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o_108"/>
          <p:cNvSpPr txBox="1"/>
          <p:nvPr/>
        </p:nvSpPr>
        <p:spPr>
          <a:xfrm>
            <a:off x="1737360" y="155448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Importan más las covariables que el algoritmo</a:t>
            </a:r>
            <a:endParaRPr lang="en-US" sz="2000" dirty="0"/>
          </a:p>
        </p:txBody>
      </p:sp>
      <p:sp>
        <p:nvSpPr>
          <p:cNvPr id="7" name="texto_109"/>
          <p:cNvSpPr txBox="1"/>
          <p:nvPr/>
        </p:nvSpPr>
        <p:spPr>
          <a:xfrm>
            <a:off x="1737360" y="201168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Cuando el kriging solo usa las estaciones y el AA usa satélite o reanálisis, la diferencia se agranda. Con las mismas covariables, la ventaja se reduce.</a:t>
            </a:r>
            <a:endParaRPr lang="en-US" sz="1600" dirty="0"/>
          </a:p>
        </p:txBody>
      </p:sp>
      <p:sp>
        <p:nvSpPr>
          <p:cNvPr id="8" name="tarjeta_110"/>
          <p:cNvSpPr/>
          <p:nvPr/>
        </p:nvSpPr>
        <p:spPr>
          <a:xfrm>
            <a:off x="548640" y="3017520"/>
            <a:ext cx="1106424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circulo_111"/>
          <p:cNvSpPr/>
          <p:nvPr/>
        </p:nvSpPr>
        <p:spPr>
          <a:xfrm>
            <a:off x="822960" y="338328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num_112"/>
          <p:cNvSpPr txBox="1"/>
          <p:nvPr/>
        </p:nvSpPr>
        <p:spPr>
          <a:xfrm>
            <a:off x="822960" y="3383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1" name="texto_113"/>
          <p:cNvSpPr txBox="1"/>
          <p:nvPr/>
        </p:nvSpPr>
        <p:spPr>
          <a:xfrm>
            <a:off x="1737360" y="315468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La frontera entre familias se borra</a:t>
            </a:r>
            <a:endParaRPr lang="en-US" sz="2000" dirty="0"/>
          </a:p>
        </p:txBody>
      </p:sp>
      <p:sp>
        <p:nvSpPr>
          <p:cNvPr id="12" name="texto_114"/>
          <p:cNvSpPr txBox="1"/>
          <p:nvPr/>
        </p:nvSpPr>
        <p:spPr>
          <a:xfrm>
            <a:off x="1737360" y="361188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En Cataluña el RF estándar perdió con la regresión-kriging y solo el RFSI la igualó. En Sichuan, sin el SRF híbrido, kriging y RF empataron (35,98 frente a 35,93 mm).</a:t>
            </a:r>
            <a:endParaRPr lang="en-US" sz="1600" dirty="0"/>
          </a:p>
        </p:txBody>
      </p:sp>
      <p:sp>
        <p:nvSpPr>
          <p:cNvPr id="13" name="tarjeta_115"/>
          <p:cNvSpPr/>
          <p:nvPr/>
        </p:nvSpPr>
        <p:spPr>
          <a:xfrm>
            <a:off x="548640" y="4617720"/>
            <a:ext cx="1106424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circulo_116"/>
          <p:cNvSpPr/>
          <p:nvPr/>
        </p:nvSpPr>
        <p:spPr>
          <a:xfrm>
            <a:off x="822960" y="498348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num_117"/>
          <p:cNvSpPr txBox="1"/>
          <p:nvPr/>
        </p:nvSpPr>
        <p:spPr>
          <a:xfrm>
            <a:off x="822960" y="4983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o_118"/>
          <p:cNvSpPr txBox="1"/>
          <p:nvPr/>
        </p:nvSpPr>
        <p:spPr>
          <a:xfrm>
            <a:off x="1737360" y="475488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La ventaja depende de la calidad del diseño</a:t>
            </a:r>
            <a:endParaRPr lang="en-US" sz="2000" dirty="0"/>
          </a:p>
        </p:txBody>
      </p:sp>
      <p:sp>
        <p:nvSpPr>
          <p:cNvPr id="17" name="texto_119"/>
          <p:cNvSpPr txBox="1"/>
          <p:nvPr/>
        </p:nvSpPr>
        <p:spPr>
          <a:xfrm>
            <a:off x="1737360" y="521208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En los 3 estudios de bajo riesgo la diferencia desaparece (−0,022); la ventaja solo es significativa con estaciones independientes.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B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Vacíos de evidencia y limitaciones</a:t>
            </a:r>
            <a:endParaRPr lang="en-US" sz="3400" dirty="0"/>
          </a:p>
        </p:txBody>
      </p:sp>
      <p:sp>
        <p:nvSpPr>
          <p:cNvPr id="3" name="tarjeta_120"/>
          <p:cNvSpPr/>
          <p:nvPr/>
        </p:nvSpPr>
        <p:spPr>
          <a:xfrm>
            <a:off x="548640" y="1463040"/>
            <a:ext cx="5394960" cy="4572000"/>
          </a:xfrm>
          <a:prstGeom prst="roundRect">
            <a:avLst>
              <a:gd name="adj" fmla="val 24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o_121"/>
          <p:cNvSpPr txBox="1"/>
          <p:nvPr/>
        </p:nvSpPr>
        <p:spPr>
          <a:xfrm>
            <a:off x="822960" y="1691640"/>
            <a:ext cx="484632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200" b="1" dirty="0">
                <a:solidFill>
                  <a:schemeClr val="accent1"/>
                </a:solidFill>
              </a:rPr>
              <a:t>Vacíos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Un solo estudio andino y ninguno del Altiplano, incluso tras verificar en Google Scholar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Ningún estudio elegible de sequía ni PM2.5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Temperatura: solo 4 comparaciones y resultados inconsistentes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Casi toda la evidencia es de China e Irán</a:t>
            </a:r>
            <a:endParaRPr lang="en-US" sz="1700" dirty="0"/>
          </a:p>
        </p:txBody>
      </p:sp>
      <p:sp>
        <p:nvSpPr>
          <p:cNvPr id="5" name="tarjeta_122"/>
          <p:cNvSpPr/>
          <p:nvPr/>
        </p:nvSpPr>
        <p:spPr>
          <a:xfrm>
            <a:off x="6217920" y="1463040"/>
            <a:ext cx="5394960" cy="4572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o_123"/>
          <p:cNvSpPr txBox="1"/>
          <p:nvPr/>
        </p:nvSpPr>
        <p:spPr>
          <a:xfrm>
            <a:off x="6492240" y="1691640"/>
            <a:ext cx="484632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200" b="1" dirty="0">
                <a:solidFill>
                  <a:schemeClr val="accent5"/>
                </a:solidFill>
              </a:rPr>
              <a:t>Limitaciones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Varianza aproximada: ningún estudio reportó la incertidumbre del RMSE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Comparar al mejor de cada familia favorece al AA, que suele probar más modelos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Algunos valores leídos de figuras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Sin Web of Science, sin protocolo registrado y un texto completo sin recuperar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B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Conclusiones</a:t>
            </a:r>
            <a:endParaRPr lang="en-US" sz="3400" dirty="0"/>
          </a:p>
        </p:txBody>
      </p:sp>
      <p:sp>
        <p:nvSpPr>
          <p:cNvPr id="3" name="texto_124"/>
          <p:cNvSpPr txBox="1"/>
          <p:nvPr/>
        </p:nvSpPr>
        <p:spPr>
          <a:xfrm>
            <a:off x="548640" y="1371600"/>
            <a:ext cx="110642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AA predice con un error moderadamente menor, pero la ventaja es heterogénea, depende de las covariables y no se sostiene en los estudios de bajo riesgo.</a:t>
            </a:r>
            <a:endParaRPr lang="en-US" sz="2200" dirty="0"/>
          </a:p>
        </p:txBody>
      </p:sp>
      <p:sp>
        <p:nvSpPr>
          <p:cNvPr id="4" name="tarjeta_125"/>
          <p:cNvSpPr/>
          <p:nvPr/>
        </p:nvSpPr>
        <p:spPr>
          <a:xfrm>
            <a:off x="548640" y="3017520"/>
            <a:ext cx="2606040" cy="2377440"/>
          </a:xfrm>
          <a:prstGeom prst="roundRect">
            <a:avLst>
              <a:gd name="adj" fmla="val 4615"/>
            </a:avLst>
          </a:prstGeom>
          <a:solidFill>
            <a:srgbClr val="2A4C63"/>
          </a:solidFill>
          <a:ln w="12700">
            <a:solidFill>
              <a:srgbClr val="2A4C63"/>
            </a:solidFill>
            <a:prstDash val="solid"/>
          </a:ln>
        </p:spPr>
      </p:sp>
      <p:sp>
        <p:nvSpPr>
          <p:cNvPr id="5" name="circulo_126"/>
          <p:cNvSpPr/>
          <p:nvPr/>
        </p:nvSpPr>
        <p:spPr>
          <a:xfrm>
            <a:off x="777240" y="32461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num_127"/>
          <p:cNvSpPr txBox="1"/>
          <p:nvPr/>
        </p:nvSpPr>
        <p:spPr>
          <a:xfrm>
            <a:off x="777240" y="3246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o_128"/>
          <p:cNvSpPr txBox="1"/>
          <p:nvPr/>
        </p:nvSpPr>
        <p:spPr>
          <a:xfrm>
            <a:off x="777240" y="39319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Mismas covariables</a:t>
            </a:r>
            <a:endParaRPr lang="en-US" sz="1800" dirty="0"/>
          </a:p>
        </p:txBody>
      </p:sp>
      <p:sp>
        <p:nvSpPr>
          <p:cNvPr id="8" name="texto_129"/>
          <p:cNvSpPr txBox="1"/>
          <p:nvPr/>
        </p:nvSpPr>
        <p:spPr>
          <a:xfrm>
            <a:off x="777240" y="43434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en ambos brazos</a:t>
            </a:r>
            <a:endParaRPr lang="en-US" sz="1500" dirty="0"/>
          </a:p>
        </p:txBody>
      </p:sp>
      <p:sp>
        <p:nvSpPr>
          <p:cNvPr id="9" name="tarjeta_130"/>
          <p:cNvSpPr/>
          <p:nvPr/>
        </p:nvSpPr>
        <p:spPr>
          <a:xfrm>
            <a:off x="3364992" y="3017520"/>
            <a:ext cx="2606040" cy="2377440"/>
          </a:xfrm>
          <a:prstGeom prst="roundRect">
            <a:avLst>
              <a:gd name="adj" fmla="val 4615"/>
            </a:avLst>
          </a:prstGeom>
          <a:solidFill>
            <a:srgbClr val="2A4C63"/>
          </a:solidFill>
          <a:ln w="12700">
            <a:solidFill>
              <a:srgbClr val="2A4C63"/>
            </a:solidFill>
            <a:prstDash val="solid"/>
          </a:ln>
        </p:spPr>
      </p:sp>
      <p:sp>
        <p:nvSpPr>
          <p:cNvPr id="10" name="circulo_131"/>
          <p:cNvSpPr/>
          <p:nvPr/>
        </p:nvSpPr>
        <p:spPr>
          <a:xfrm>
            <a:off x="3593592" y="32461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num_132"/>
          <p:cNvSpPr txBox="1"/>
          <p:nvPr/>
        </p:nvSpPr>
        <p:spPr>
          <a:xfrm>
            <a:off x="3593592" y="3246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o_133"/>
          <p:cNvSpPr txBox="1"/>
          <p:nvPr/>
        </p:nvSpPr>
        <p:spPr>
          <a:xfrm>
            <a:off x="3593592" y="39319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Validar con estaciones</a:t>
            </a:r>
            <a:endParaRPr lang="en-US" sz="1800" dirty="0"/>
          </a:p>
        </p:txBody>
      </p:sp>
      <p:sp>
        <p:nvSpPr>
          <p:cNvPr id="13" name="texto_134"/>
          <p:cNvSpPr txBox="1"/>
          <p:nvPr/>
        </p:nvSpPr>
        <p:spPr>
          <a:xfrm>
            <a:off x="3593592" y="43434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independientes o bloques espaciales</a:t>
            </a:r>
            <a:endParaRPr lang="en-US" sz="1500" dirty="0"/>
          </a:p>
        </p:txBody>
      </p:sp>
      <p:sp>
        <p:nvSpPr>
          <p:cNvPr id="14" name="tarjeta_135"/>
          <p:cNvSpPr/>
          <p:nvPr/>
        </p:nvSpPr>
        <p:spPr>
          <a:xfrm>
            <a:off x="6181344" y="3017520"/>
            <a:ext cx="2606040" cy="2377440"/>
          </a:xfrm>
          <a:prstGeom prst="roundRect">
            <a:avLst>
              <a:gd name="adj" fmla="val 4615"/>
            </a:avLst>
          </a:prstGeom>
          <a:solidFill>
            <a:srgbClr val="2A4C63"/>
          </a:solidFill>
          <a:ln w="12700">
            <a:solidFill>
              <a:srgbClr val="2A4C63"/>
            </a:solidFill>
            <a:prstDash val="solid"/>
          </a:ln>
        </p:spPr>
      </p:sp>
      <p:sp>
        <p:nvSpPr>
          <p:cNvPr id="15" name="circulo_136"/>
          <p:cNvSpPr/>
          <p:nvPr/>
        </p:nvSpPr>
        <p:spPr>
          <a:xfrm>
            <a:off x="6409944" y="32461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num_137"/>
          <p:cNvSpPr txBox="1"/>
          <p:nvPr/>
        </p:nvSpPr>
        <p:spPr>
          <a:xfrm>
            <a:off x="6409944" y="3246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7" name="texto_138"/>
          <p:cNvSpPr txBox="1"/>
          <p:nvPr/>
        </p:nvSpPr>
        <p:spPr>
          <a:xfrm>
            <a:off x="6409944" y="39319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Reportar RMSE</a:t>
            </a:r>
            <a:endParaRPr lang="en-US" sz="1800" dirty="0"/>
          </a:p>
        </p:txBody>
      </p:sp>
      <p:sp>
        <p:nvSpPr>
          <p:cNvPr id="18" name="texto_139"/>
          <p:cNvSpPr txBox="1"/>
          <p:nvPr/>
        </p:nvSpPr>
        <p:spPr>
          <a:xfrm>
            <a:off x="6409944" y="43434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con n y su incertidumbre</a:t>
            </a:r>
            <a:endParaRPr lang="en-US" sz="1500" dirty="0"/>
          </a:p>
        </p:txBody>
      </p:sp>
      <p:sp>
        <p:nvSpPr>
          <p:cNvPr id="19" name="tarjeta_140"/>
          <p:cNvSpPr/>
          <p:nvPr/>
        </p:nvSpPr>
        <p:spPr>
          <a:xfrm>
            <a:off x="8997696" y="3017520"/>
            <a:ext cx="2606040" cy="2377440"/>
          </a:xfrm>
          <a:prstGeom prst="roundRect">
            <a:avLst>
              <a:gd name="adj" fmla="val 4615"/>
            </a:avLst>
          </a:prstGeom>
          <a:solidFill>
            <a:srgbClr val="2A4C63"/>
          </a:solidFill>
          <a:ln w="12700">
            <a:solidFill>
              <a:srgbClr val="2A4C63"/>
            </a:solidFill>
            <a:prstDash val="solid"/>
          </a:ln>
        </p:spPr>
      </p:sp>
      <p:sp>
        <p:nvSpPr>
          <p:cNvPr id="20" name="circulo_141"/>
          <p:cNvSpPr/>
          <p:nvPr/>
        </p:nvSpPr>
        <p:spPr>
          <a:xfrm>
            <a:off x="9226296" y="32461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num_142"/>
          <p:cNvSpPr txBox="1"/>
          <p:nvPr/>
        </p:nvSpPr>
        <p:spPr>
          <a:xfrm>
            <a:off x="9226296" y="3246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22" name="texto_143"/>
          <p:cNvSpPr txBox="1"/>
          <p:nvPr/>
        </p:nvSpPr>
        <p:spPr>
          <a:xfrm>
            <a:off x="9226296" y="39319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Generar evidencia</a:t>
            </a:r>
            <a:endParaRPr lang="en-US" sz="1800" dirty="0"/>
          </a:p>
        </p:txBody>
      </p:sp>
      <p:sp>
        <p:nvSpPr>
          <p:cNvPr id="23" name="texto_144"/>
          <p:cNvSpPr txBox="1"/>
          <p:nvPr/>
        </p:nvSpPr>
        <p:spPr>
          <a:xfrm>
            <a:off x="9226296" y="43434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en los Andes y el Altiplano</a:t>
            </a:r>
            <a:endParaRPr lang="en-US" sz="1500" dirty="0"/>
          </a:p>
        </p:txBody>
      </p:sp>
      <p:sp>
        <p:nvSpPr>
          <p:cNvPr id="24" name="texto_145"/>
          <p:cNvSpPr txBox="1"/>
          <p:nvPr/>
        </p:nvSpPr>
        <p:spPr>
          <a:xfrm>
            <a:off x="548640" y="571500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Gracias · ¿Preguntas?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6EEF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ntana">
  <a:themeElements>
    <a:clrScheme name="Montana">
      <a:dk1>
        <a:srgbClr val="1B2A35"/>
      </a:dk1>
      <a:lt1>
        <a:srgbClr val="FFFFFF"/>
      </a:lt1>
      <a:dk2>
        <a:srgbClr val="1F3A4D"/>
      </a:dk2>
      <a:lt2>
        <a:srgbClr val="E6EEF2"/>
      </a:lt2>
      <a:accent1>
        <a:srgbClr val="D9822B"/>
      </a:accent1>
      <a:accent2>
        <a:srgbClr val="2E7D7A"/>
      </a:accent2>
      <a:accent3>
        <a:srgbClr val="5B8DB8"/>
      </a:accent3>
      <a:accent4>
        <a:srgbClr val="8A9BA8"/>
      </a:accent4>
      <a:accent5>
        <a:srgbClr val="B5462F"/>
      </a:accent5>
      <a:accent6>
        <a:srgbClr val="7A9A4A"/>
      </a:accent6>
      <a:hlink>
        <a:srgbClr val="2E7D7A"/>
      </a:hlink>
      <a:folHlink>
        <a:srgbClr val="5B8DB8"/>
      </a:folHlink>
    </a:clrScheme>
    <a:fontScheme name="Montana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Metaanálisis del desempeño de la predicción espacial de variables ambientales mediante geoestadística y aprendizaje automático en regiones montañosas</dc:title>
  <dc:subject>PptxGenJS Presentation</dc:subject>
  <dc:creator>Colquehuanca, Laura, Leon, Portillo</dc:creator>
  <cp:lastModifiedBy>Colquehuanca, Laura, Leon, Portillo</cp:lastModifiedBy>
  <cp:revision>1</cp:revision>
  <dcterms:created xsi:type="dcterms:W3CDTF">2026-10-16T03:54:25Z</dcterms:created>
  <dcterms:modified xsi:type="dcterms:W3CDTF">2026-10-16T03:54:25Z</dcterms:modified>
</cp:coreProperties>
</file>